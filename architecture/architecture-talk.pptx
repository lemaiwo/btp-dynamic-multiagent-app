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chat with the orchestrator in the browser; SAP Joule reaches the same agents over the A2A protocol.
Everything runs in one SAP BTP subaccount on Cloud Foundry, behind an Application Router and XSUAA (single sign-on, roles user / admin / a2a).
The orchestrator does not do the work itself: it picks the right specialist agent and hands the request over. Specialists can also call each other.
Every agent thinks with an LLM from SAP AI Core's Generative AI Hub - model can differ per agent.
Specialists reach business systems through MCP servers (on BTP or any vendor) or built-in connectors: Microsoft 365 (Outlook, Teams), Gmail, Slack, Jira, SMTP, SAP for Me, SAP security notes.
Not on the slide: the Job Scheduling Service also triggers agents and multi-step workflows on a schedule, e.g. a daily report 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admin defines an agent in the admin UI: name, instructions, which MCP servers or built-in tools it may use, which skills it can load, which peers it may delegate to, optionally its own LLM.
Skills are reusable instruction blocks shared between agents.
The definition is stored in PostgreSQL on BTP. Pressing reload rebuilds the orchestrator and all specialists from the database and swaps them in atomically - no build, no cf push.
Same for workflows: a main line, a fan-out over work items, per-item branches and a join, with deterministic steps (condition, transform, http, python) between agent steps.
Admin access is protected by the admin role in XSUAA.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sign in once through the Application Router; XSUAA issues a JWT and checks your role.
The backend validates that JWT and keeps it with your request all the way down to the agent that makes the call.
Each MCP server receives your token (JWT forwarding), so it applies your own authorizations. Every agent run opens its own MCP session, so two users never share a connection.
For systems outside BTP, each user signs in once with OAuth 2.1 (Microsoft, Google, remote MCP servers); tokens are stored per user and refreshed automatically.
Technical credentials (Jira, Slack, SMTP) live in the BTP Destination service, never in the app; destinations can also exchange your token for a token of the target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4000" b="1" dirty="0">
                <a:solidFill>
                  <a:srgbClr val="1D2D3E"/>
                </a:solidFill>
                <a:latin typeface="Arial" pitchFamily="34" charset="0"/>
                <a:ea typeface="Arial" pitchFamily="34" charset="-122"/>
                <a:cs typeface="Arial" pitchFamily="34" charset="-120"/>
              </a:rPr>
              <a:t>How it works</a:t>
            </a:r>
            <a:endParaRPr lang="en-US" sz="4000" dirty="0"/>
          </a:p>
        </p:txBody>
      </p:sp>
      <p:sp>
        <p:nvSpPr>
          <p:cNvPr id="3" name="Shape 1"/>
          <p:cNvSpPr/>
          <p:nvPr/>
        </p:nvSpPr>
        <p:spPr>
          <a:xfrm>
            <a:off x="548640" y="1417320"/>
            <a:ext cx="2377440" cy="4892040"/>
          </a:xfrm>
          <a:prstGeom prst="roundRect">
            <a:avLst>
              <a:gd name="adj" fmla="val 7692"/>
            </a:avLst>
          </a:prstGeom>
          <a:solidFill>
            <a:srgbClr val="F5F6F7"/>
          </a:solidFill>
          <a:ln w="25400">
            <a:solidFill>
              <a:srgbClr val="475E75"/>
            </a:solidFill>
            <a:prstDash val="solid"/>
          </a:ln>
        </p:spPr>
      </p:sp>
      <p:sp>
        <p:nvSpPr>
          <p:cNvPr id="4" name="Text 2"/>
          <p:cNvSpPr txBox="1"/>
          <p:nvPr/>
        </p:nvSpPr>
        <p:spPr>
          <a:xfrm>
            <a:off x="777240" y="1554480"/>
            <a:ext cx="1920240" cy="457200"/>
          </a:xfrm>
          <a:prstGeom prst="rect">
            <a:avLst/>
          </a:prstGeom>
          <a:noFill/>
          <a:ln/>
        </p:spPr>
        <p:txBody>
          <a:bodyPr wrap="square" lIns="0" tIns="0" rIns="0" bIns="0" rtlCol="0" anchor="ctr"/>
          <a:lstStyle/>
          <a:p>
            <a:pPr indent="0" marL="0">
              <a:buNone/>
            </a:pPr>
            <a:r>
              <a:rPr lang="en-US" sz="2000" b="1" dirty="0">
                <a:solidFill>
                  <a:srgbClr val="475E75"/>
                </a:solidFill>
                <a:latin typeface="Arial" pitchFamily="34" charset="0"/>
                <a:ea typeface="Arial" pitchFamily="34" charset="-122"/>
                <a:cs typeface="Arial" pitchFamily="34" charset="-120"/>
              </a:rPr>
              <a:t>Users</a:t>
            </a:r>
            <a:endParaRPr lang="en-US" sz="2000" dirty="0"/>
          </a:p>
        </p:txBody>
      </p:sp>
      <p:sp>
        <p:nvSpPr>
          <p:cNvPr id="5" name="Shape 3"/>
          <p:cNvSpPr/>
          <p:nvPr/>
        </p:nvSpPr>
        <p:spPr>
          <a:xfrm>
            <a:off x="777240" y="2011680"/>
            <a:ext cx="1920240" cy="1920240"/>
          </a:xfrm>
          <a:prstGeom prst="roundRect">
            <a:avLst>
              <a:gd name="adj" fmla="val 9524"/>
            </a:avLst>
          </a:prstGeom>
          <a:solidFill>
            <a:srgbClr val="FFFFFF"/>
          </a:solidFill>
          <a:ln w="31750">
            <a:solidFill>
              <a:srgbClr val="475E75"/>
            </a:solidFill>
            <a:prstDash val="solid"/>
          </a:ln>
        </p:spPr>
      </p:sp>
      <p:pic>
        <p:nvPicPr>
          <p:cNvPr id="6" name="Image 0" descr="preencoded.png">    </p:cNvPr>
          <p:cNvPicPr>
            <a:picLocks noChangeAspect="1"/>
          </p:cNvPicPr>
          <p:nvPr/>
        </p:nvPicPr>
        <p:blipFill>
          <a:blip r:embed="rId1"/>
          <a:stretch>
            <a:fillRect/>
          </a:stretch>
        </p:blipFill>
        <p:spPr>
          <a:xfrm>
            <a:off x="1325880" y="2286000"/>
            <a:ext cx="822960" cy="822960"/>
          </a:xfrm>
          <a:prstGeom prst="rect">
            <a:avLst/>
          </a:prstGeom>
        </p:spPr>
      </p:pic>
      <p:sp>
        <p:nvSpPr>
          <p:cNvPr id="7" name="Text 4"/>
          <p:cNvSpPr txBox="1"/>
          <p:nvPr/>
        </p:nvSpPr>
        <p:spPr>
          <a:xfrm>
            <a:off x="914400" y="3246120"/>
            <a:ext cx="1645920" cy="548640"/>
          </a:xfrm>
          <a:prstGeom prst="rect">
            <a:avLst/>
          </a:prstGeom>
          <a:noFill/>
          <a:ln/>
        </p:spPr>
        <p:txBody>
          <a:bodyPr wrap="square" lIns="0" tIns="0" rIns="0" bIns="0" rtlCol="0" anchor="t"/>
          <a:lstStyle/>
          <a:p>
            <a:pPr algn="ctr" indent="0" marL="0">
              <a:buNone/>
            </a:pPr>
            <a:r>
              <a:rPr lang="en-US" sz="2800" b="1" dirty="0">
                <a:solidFill>
                  <a:srgbClr val="1D2D3E"/>
                </a:solidFill>
                <a:latin typeface="Arial" pitchFamily="34" charset="0"/>
                <a:ea typeface="Arial" pitchFamily="34" charset="-122"/>
                <a:cs typeface="Arial" pitchFamily="34" charset="-120"/>
              </a:rPr>
              <a:t>People</a:t>
            </a:r>
            <a:endParaRPr lang="en-US" sz="2800" dirty="0"/>
          </a:p>
        </p:txBody>
      </p:sp>
      <p:sp>
        <p:nvSpPr>
          <p:cNvPr id="8" name="Shape 5"/>
          <p:cNvSpPr/>
          <p:nvPr/>
        </p:nvSpPr>
        <p:spPr>
          <a:xfrm>
            <a:off x="777240" y="4160520"/>
            <a:ext cx="1920240" cy="1920240"/>
          </a:xfrm>
          <a:prstGeom prst="roundRect">
            <a:avLst>
              <a:gd name="adj" fmla="val 9524"/>
            </a:avLst>
          </a:prstGeom>
          <a:solidFill>
            <a:srgbClr val="FFFFFF"/>
          </a:solidFill>
          <a:ln w="31750">
            <a:solidFill>
              <a:srgbClr val="0070F2"/>
            </a:solidFill>
            <a:prstDash val="solid"/>
          </a:ln>
        </p:spPr>
      </p:sp>
      <p:pic>
        <p:nvPicPr>
          <p:cNvPr id="9" name="Image 1" descr="preencoded.png">    </p:cNvPr>
          <p:cNvPicPr>
            <a:picLocks noChangeAspect="1"/>
          </p:cNvPicPr>
          <p:nvPr/>
        </p:nvPicPr>
        <p:blipFill>
          <a:blip r:embed="rId2"/>
          <a:stretch>
            <a:fillRect/>
          </a:stretch>
        </p:blipFill>
        <p:spPr>
          <a:xfrm>
            <a:off x="1325880" y="4434840"/>
            <a:ext cx="822960" cy="822960"/>
          </a:xfrm>
          <a:prstGeom prst="rect">
            <a:avLst/>
          </a:prstGeom>
        </p:spPr>
      </p:pic>
      <p:sp>
        <p:nvSpPr>
          <p:cNvPr id="10" name="Text 6"/>
          <p:cNvSpPr txBox="1"/>
          <p:nvPr/>
        </p:nvSpPr>
        <p:spPr>
          <a:xfrm>
            <a:off x="914400" y="5394960"/>
            <a:ext cx="1645920" cy="548640"/>
          </a:xfrm>
          <a:prstGeom prst="rect">
            <a:avLst/>
          </a:prstGeom>
          <a:noFill/>
          <a:ln/>
        </p:spPr>
        <p:txBody>
          <a:bodyPr wrap="square" lIns="0" tIns="0" rIns="0" bIns="0" rtlCol="0" anchor="t"/>
          <a:lstStyle/>
          <a:p>
            <a:pPr algn="ctr" indent="0" marL="0">
              <a:buNone/>
            </a:pPr>
            <a:r>
              <a:rPr lang="en-US" sz="2800" b="1" dirty="0">
                <a:solidFill>
                  <a:srgbClr val="1D2D3E"/>
                </a:solidFill>
                <a:latin typeface="Arial" pitchFamily="34" charset="0"/>
                <a:ea typeface="Arial" pitchFamily="34" charset="-122"/>
                <a:cs typeface="Arial" pitchFamily="34" charset="-120"/>
              </a:rPr>
              <a:t>Joule</a:t>
            </a:r>
            <a:endParaRPr lang="en-US" sz="2800" dirty="0"/>
          </a:p>
        </p:txBody>
      </p:sp>
      <p:sp>
        <p:nvSpPr>
          <p:cNvPr id="11" name="Shape 7"/>
          <p:cNvSpPr/>
          <p:nvPr/>
        </p:nvSpPr>
        <p:spPr>
          <a:xfrm>
            <a:off x="3337560" y="1417320"/>
            <a:ext cx="5486400" cy="4892040"/>
          </a:xfrm>
          <a:prstGeom prst="roundRect">
            <a:avLst>
              <a:gd name="adj" fmla="val 3738"/>
            </a:avLst>
          </a:prstGeom>
          <a:solidFill>
            <a:srgbClr val="EBF8FF"/>
          </a:solidFill>
          <a:ln w="25400">
            <a:solidFill>
              <a:srgbClr val="0070F2"/>
            </a:solidFill>
            <a:prstDash val="solid"/>
          </a:ln>
        </p:spPr>
      </p:sp>
      <p:sp>
        <p:nvSpPr>
          <p:cNvPr id="12" name="Text 8"/>
          <p:cNvSpPr txBox="1"/>
          <p:nvPr/>
        </p:nvSpPr>
        <p:spPr>
          <a:xfrm>
            <a:off x="3566160" y="1554480"/>
            <a:ext cx="5029200" cy="457200"/>
          </a:xfrm>
          <a:prstGeom prst="rect">
            <a:avLst/>
          </a:prstGeom>
          <a:noFill/>
          <a:ln/>
        </p:spPr>
        <p:txBody>
          <a:bodyPr wrap="square" lIns="0" tIns="0" rIns="0" bIns="0" rtlCol="0" anchor="ctr"/>
          <a:lstStyle/>
          <a:p>
            <a:pPr indent="0" marL="0">
              <a:buNone/>
            </a:pPr>
            <a:r>
              <a:rPr lang="en-US" sz="2000" b="1" dirty="0">
                <a:solidFill>
                  <a:srgbClr val="0070F2"/>
                </a:solidFill>
                <a:latin typeface="Arial" pitchFamily="34" charset="0"/>
                <a:ea typeface="Arial" pitchFamily="34" charset="-122"/>
                <a:cs typeface="Arial" pitchFamily="34" charset="-120"/>
              </a:rPr>
              <a:t>SAP BTP</a:t>
            </a:r>
            <a:endParaRPr lang="en-US" sz="2000" dirty="0"/>
          </a:p>
        </p:txBody>
      </p:sp>
      <p:sp>
        <p:nvSpPr>
          <p:cNvPr id="13" name="Shape 9"/>
          <p:cNvSpPr/>
          <p:nvPr/>
        </p:nvSpPr>
        <p:spPr>
          <a:xfrm>
            <a:off x="3611880" y="2011680"/>
            <a:ext cx="4937760" cy="1097280"/>
          </a:xfrm>
          <a:prstGeom prst="roundRect">
            <a:avLst>
              <a:gd name="adj" fmla="val 16667"/>
            </a:avLst>
          </a:prstGeom>
          <a:solidFill>
            <a:srgbClr val="FFFFFF"/>
          </a:solidFill>
          <a:ln w="31750">
            <a:solidFill>
              <a:srgbClr val="0070F2"/>
            </a:solidFill>
            <a:prstDash val="solid"/>
          </a:ln>
        </p:spPr>
      </p:sp>
      <p:pic>
        <p:nvPicPr>
          <p:cNvPr id="14" name="Image 2" descr="preencoded.png">    </p:cNvPr>
          <p:cNvPicPr>
            <a:picLocks noChangeAspect="1"/>
          </p:cNvPicPr>
          <p:nvPr/>
        </p:nvPicPr>
        <p:blipFill>
          <a:blip r:embed="rId3"/>
          <a:stretch>
            <a:fillRect/>
          </a:stretch>
        </p:blipFill>
        <p:spPr>
          <a:xfrm>
            <a:off x="3886200" y="2194560"/>
            <a:ext cx="731520" cy="731520"/>
          </a:xfrm>
          <a:prstGeom prst="rect">
            <a:avLst/>
          </a:prstGeom>
        </p:spPr>
      </p:pic>
      <p:sp>
        <p:nvSpPr>
          <p:cNvPr id="15" name="Text 10"/>
          <p:cNvSpPr txBox="1"/>
          <p:nvPr/>
        </p:nvSpPr>
        <p:spPr>
          <a:xfrm>
            <a:off x="4800600" y="2011680"/>
            <a:ext cx="3566160" cy="1097280"/>
          </a:xfrm>
          <a:prstGeom prst="rect">
            <a:avLst/>
          </a:prstGeom>
          <a:noFill/>
          <a:ln/>
        </p:spPr>
        <p:txBody>
          <a:bodyPr wrap="square" lIns="0" tIns="0" rIns="0" bIns="0" rtlCol="0" anchor="ctr"/>
          <a:lstStyle/>
          <a:p>
            <a:pPr indent="0" marL="0">
              <a:buNone/>
            </a:pPr>
            <a:r>
              <a:rPr lang="en-US" sz="2800" b="1" dirty="0">
                <a:solidFill>
                  <a:srgbClr val="1D2D3E"/>
                </a:solidFill>
                <a:latin typeface="Arial" pitchFamily="34" charset="0"/>
                <a:ea typeface="Arial" pitchFamily="34" charset="-122"/>
                <a:cs typeface="Arial" pitchFamily="34" charset="-120"/>
              </a:rPr>
              <a:t>Orchestrator</a:t>
            </a:r>
            <a:endParaRPr lang="en-US" sz="2800" dirty="0"/>
          </a:p>
        </p:txBody>
      </p:sp>
      <p:sp>
        <p:nvSpPr>
          <p:cNvPr id="16" name="Shape 11"/>
          <p:cNvSpPr/>
          <p:nvPr/>
        </p:nvSpPr>
        <p:spPr>
          <a:xfrm>
            <a:off x="3776472" y="3685032"/>
            <a:ext cx="4937760" cy="1097280"/>
          </a:xfrm>
          <a:prstGeom prst="roundRect">
            <a:avLst>
              <a:gd name="adj" fmla="val 16667"/>
            </a:avLst>
          </a:prstGeom>
          <a:solidFill>
            <a:srgbClr val="FFFFFF"/>
          </a:solidFill>
          <a:ln w="31750">
            <a:solidFill>
              <a:srgbClr val="0070F2"/>
            </a:solidFill>
            <a:prstDash val="solid"/>
          </a:ln>
        </p:spPr>
      </p:sp>
      <p:sp>
        <p:nvSpPr>
          <p:cNvPr id="17" name="Shape 12"/>
          <p:cNvSpPr/>
          <p:nvPr/>
        </p:nvSpPr>
        <p:spPr>
          <a:xfrm>
            <a:off x="3694176" y="3602736"/>
            <a:ext cx="4937760" cy="1097280"/>
          </a:xfrm>
          <a:prstGeom prst="roundRect">
            <a:avLst>
              <a:gd name="adj" fmla="val 16667"/>
            </a:avLst>
          </a:prstGeom>
          <a:solidFill>
            <a:srgbClr val="FFFFFF"/>
          </a:solidFill>
          <a:ln w="31750">
            <a:solidFill>
              <a:srgbClr val="0070F2"/>
            </a:solidFill>
            <a:prstDash val="solid"/>
          </a:ln>
        </p:spPr>
      </p:sp>
      <p:sp>
        <p:nvSpPr>
          <p:cNvPr id="18" name="Shape 13"/>
          <p:cNvSpPr/>
          <p:nvPr/>
        </p:nvSpPr>
        <p:spPr>
          <a:xfrm>
            <a:off x="3611880" y="3520440"/>
            <a:ext cx="4937760" cy="1097280"/>
          </a:xfrm>
          <a:prstGeom prst="roundRect">
            <a:avLst>
              <a:gd name="adj" fmla="val 16667"/>
            </a:avLst>
          </a:prstGeom>
          <a:solidFill>
            <a:srgbClr val="FFFFFF"/>
          </a:solidFill>
          <a:ln w="31750">
            <a:solidFill>
              <a:srgbClr val="0070F2"/>
            </a:solidFill>
            <a:prstDash val="solid"/>
          </a:ln>
        </p:spPr>
      </p:sp>
      <p:pic>
        <p:nvPicPr>
          <p:cNvPr id="19" name="Image 3" descr="preencoded.png">    </p:cNvPr>
          <p:cNvPicPr>
            <a:picLocks noChangeAspect="1"/>
          </p:cNvPicPr>
          <p:nvPr/>
        </p:nvPicPr>
        <p:blipFill>
          <a:blip r:embed="rId4"/>
          <a:stretch>
            <a:fillRect/>
          </a:stretch>
        </p:blipFill>
        <p:spPr>
          <a:xfrm>
            <a:off x="3886200" y="3703320"/>
            <a:ext cx="731520" cy="731520"/>
          </a:xfrm>
          <a:prstGeom prst="rect">
            <a:avLst/>
          </a:prstGeom>
        </p:spPr>
      </p:pic>
      <p:sp>
        <p:nvSpPr>
          <p:cNvPr id="20" name="Text 14"/>
          <p:cNvSpPr txBox="1"/>
          <p:nvPr/>
        </p:nvSpPr>
        <p:spPr>
          <a:xfrm>
            <a:off x="4800600" y="3520440"/>
            <a:ext cx="3566160" cy="1097280"/>
          </a:xfrm>
          <a:prstGeom prst="rect">
            <a:avLst/>
          </a:prstGeom>
          <a:noFill/>
          <a:ln/>
        </p:spPr>
        <p:txBody>
          <a:bodyPr wrap="square" lIns="0" tIns="0" rIns="0" bIns="0" rtlCol="0" anchor="ctr"/>
          <a:lstStyle/>
          <a:p>
            <a:pPr indent="0" marL="0">
              <a:buNone/>
            </a:pPr>
            <a:r>
              <a:rPr lang="en-US" sz="2800" b="1" dirty="0">
                <a:solidFill>
                  <a:srgbClr val="1D2D3E"/>
                </a:solidFill>
                <a:latin typeface="Arial" pitchFamily="34" charset="0"/>
                <a:ea typeface="Arial" pitchFamily="34" charset="-122"/>
                <a:cs typeface="Arial" pitchFamily="34" charset="-120"/>
              </a:rPr>
              <a:t>Specialist agents</a:t>
            </a:r>
            <a:endParaRPr lang="en-US" sz="2800" dirty="0"/>
          </a:p>
        </p:txBody>
      </p:sp>
      <p:sp>
        <p:nvSpPr>
          <p:cNvPr id="21" name="Shape 15"/>
          <p:cNvSpPr/>
          <p:nvPr/>
        </p:nvSpPr>
        <p:spPr>
          <a:xfrm>
            <a:off x="3611880" y="5029200"/>
            <a:ext cx="4937760" cy="1005840"/>
          </a:xfrm>
          <a:prstGeom prst="roundRect">
            <a:avLst>
              <a:gd name="adj" fmla="val 18182"/>
            </a:avLst>
          </a:prstGeom>
          <a:solidFill>
            <a:srgbClr val="EBF8FF"/>
          </a:solidFill>
          <a:ln w="31750">
            <a:solidFill>
              <a:srgbClr val="0070F2"/>
            </a:solidFill>
            <a:prstDash val="solid"/>
          </a:ln>
        </p:spPr>
      </p:sp>
      <p:pic>
        <p:nvPicPr>
          <p:cNvPr id="22" name="Image 4" descr="preencoded.png">    </p:cNvPr>
          <p:cNvPicPr>
            <a:picLocks noChangeAspect="1"/>
          </p:cNvPicPr>
          <p:nvPr/>
        </p:nvPicPr>
        <p:blipFill>
          <a:blip r:embed="rId5"/>
          <a:stretch>
            <a:fillRect/>
          </a:stretch>
        </p:blipFill>
        <p:spPr>
          <a:xfrm>
            <a:off x="3886200" y="5166360"/>
            <a:ext cx="731520" cy="731520"/>
          </a:xfrm>
          <a:prstGeom prst="rect">
            <a:avLst/>
          </a:prstGeom>
        </p:spPr>
      </p:pic>
      <p:sp>
        <p:nvSpPr>
          <p:cNvPr id="23" name="Text 16"/>
          <p:cNvSpPr txBox="1"/>
          <p:nvPr/>
        </p:nvSpPr>
        <p:spPr>
          <a:xfrm>
            <a:off x="4800600" y="5029200"/>
            <a:ext cx="3566160" cy="1005840"/>
          </a:xfrm>
          <a:prstGeom prst="rect">
            <a:avLst/>
          </a:prstGeom>
          <a:noFill/>
          <a:ln/>
        </p:spPr>
        <p:txBody>
          <a:bodyPr wrap="square" lIns="0" tIns="0" rIns="0" bIns="0" rtlCol="0" anchor="ctr"/>
          <a:lstStyle/>
          <a:p>
            <a:pPr indent="0" marL="0">
              <a:buNone/>
            </a:pPr>
            <a:r>
              <a:rPr lang="en-US" sz="2800" b="1" dirty="0">
                <a:solidFill>
                  <a:srgbClr val="1D2D3E"/>
                </a:solidFill>
                <a:latin typeface="Arial" pitchFamily="34" charset="0"/>
                <a:ea typeface="Arial" pitchFamily="34" charset="-122"/>
                <a:cs typeface="Arial" pitchFamily="34" charset="-120"/>
              </a:rPr>
              <a:t>SAP AI Core</a:t>
            </a:r>
            <a:endParaRPr lang="en-US" sz="2800" dirty="0"/>
          </a:p>
        </p:txBody>
      </p:sp>
      <p:sp>
        <p:nvSpPr>
          <p:cNvPr id="24" name="Shape 17"/>
          <p:cNvSpPr/>
          <p:nvPr/>
        </p:nvSpPr>
        <p:spPr>
          <a:xfrm>
            <a:off x="9235440" y="1417320"/>
            <a:ext cx="2423160" cy="4892040"/>
          </a:xfrm>
          <a:prstGeom prst="roundRect">
            <a:avLst>
              <a:gd name="adj" fmla="val 7547"/>
            </a:avLst>
          </a:prstGeom>
          <a:solidFill>
            <a:srgbClr val="F5F6F7"/>
          </a:solidFill>
          <a:ln w="25400">
            <a:solidFill>
              <a:srgbClr val="475E75"/>
            </a:solidFill>
            <a:prstDash val="solid"/>
          </a:ln>
        </p:spPr>
      </p:sp>
      <p:sp>
        <p:nvSpPr>
          <p:cNvPr id="25" name="Text 18"/>
          <p:cNvSpPr txBox="1"/>
          <p:nvPr/>
        </p:nvSpPr>
        <p:spPr>
          <a:xfrm>
            <a:off x="9464040" y="1554480"/>
            <a:ext cx="1965960" cy="457200"/>
          </a:xfrm>
          <a:prstGeom prst="rect">
            <a:avLst/>
          </a:prstGeom>
          <a:noFill/>
          <a:ln/>
        </p:spPr>
        <p:txBody>
          <a:bodyPr wrap="square" lIns="0" tIns="0" rIns="0" bIns="0" rtlCol="0" anchor="ctr"/>
          <a:lstStyle/>
          <a:p>
            <a:pPr indent="0" marL="0">
              <a:buNone/>
            </a:pPr>
            <a:r>
              <a:rPr lang="en-US" sz="2000" b="1" dirty="0">
                <a:solidFill>
                  <a:srgbClr val="475E75"/>
                </a:solidFill>
                <a:latin typeface="Arial" pitchFamily="34" charset="0"/>
                <a:ea typeface="Arial" pitchFamily="34" charset="-122"/>
                <a:cs typeface="Arial" pitchFamily="34" charset="-120"/>
              </a:rPr>
              <a:t>Systems</a:t>
            </a:r>
            <a:endParaRPr lang="en-US" sz="2000" dirty="0"/>
          </a:p>
        </p:txBody>
      </p:sp>
      <p:sp>
        <p:nvSpPr>
          <p:cNvPr id="26" name="Shape 19"/>
          <p:cNvSpPr/>
          <p:nvPr/>
        </p:nvSpPr>
        <p:spPr>
          <a:xfrm>
            <a:off x="9464040" y="2011680"/>
            <a:ext cx="1965960" cy="4069080"/>
          </a:xfrm>
          <a:prstGeom prst="roundRect">
            <a:avLst>
              <a:gd name="adj" fmla="val 9302"/>
            </a:avLst>
          </a:prstGeom>
          <a:solidFill>
            <a:srgbClr val="FFFFFF"/>
          </a:solidFill>
          <a:ln w="31750">
            <a:solidFill>
              <a:srgbClr val="475E75"/>
            </a:solidFill>
            <a:prstDash val="solid"/>
          </a:ln>
        </p:spPr>
      </p:sp>
      <p:pic>
        <p:nvPicPr>
          <p:cNvPr id="27" name="Image 5" descr="preencoded.png">    </p:cNvPr>
          <p:cNvPicPr>
            <a:picLocks noChangeAspect="1"/>
          </p:cNvPicPr>
          <p:nvPr/>
        </p:nvPicPr>
        <p:blipFill>
          <a:blip r:embed="rId6"/>
          <a:stretch>
            <a:fillRect/>
          </a:stretch>
        </p:blipFill>
        <p:spPr>
          <a:xfrm>
            <a:off x="10035540" y="2286000"/>
            <a:ext cx="822960" cy="822960"/>
          </a:xfrm>
          <a:prstGeom prst="rect">
            <a:avLst/>
          </a:prstGeom>
        </p:spPr>
      </p:pic>
      <p:sp>
        <p:nvSpPr>
          <p:cNvPr id="28" name="Text 20"/>
          <p:cNvSpPr txBox="1"/>
          <p:nvPr/>
        </p:nvSpPr>
        <p:spPr>
          <a:xfrm>
            <a:off x="9601200" y="3246120"/>
            <a:ext cx="1691640" cy="2697480"/>
          </a:xfrm>
          <a:prstGeom prst="rect">
            <a:avLst/>
          </a:prstGeom>
          <a:noFill/>
          <a:ln/>
        </p:spPr>
        <p:txBody>
          <a:bodyPr wrap="square" lIns="0" tIns="0" rIns="0" bIns="0" rtlCol="0" anchor="t"/>
          <a:lstStyle/>
          <a:p>
            <a:pPr algn="ctr" indent="0" marL="0">
              <a:buNone/>
            </a:pPr>
            <a:r>
              <a:rPr lang="en-US" sz="2800" b="1" dirty="0">
                <a:solidFill>
                  <a:srgbClr val="1D2D3E"/>
                </a:solidFill>
                <a:latin typeface="Arial" pitchFamily="34" charset="0"/>
                <a:ea typeface="Arial" pitchFamily="34" charset="-122"/>
                <a:cs typeface="Arial" pitchFamily="34" charset="-120"/>
              </a:rPr>
              <a:t>SAP, M365, Jira, Slack</a:t>
            </a:r>
            <a:endParaRPr lang="en-US" sz="2800" dirty="0"/>
          </a:p>
        </p:txBody>
      </p:sp>
      <p:sp>
        <p:nvSpPr>
          <p:cNvPr id="29" name="Shape 21"/>
          <p:cNvSpPr/>
          <p:nvPr/>
        </p:nvSpPr>
        <p:spPr>
          <a:xfrm>
            <a:off x="2697480" y="2423160"/>
            <a:ext cx="914400" cy="0"/>
          </a:xfrm>
          <a:prstGeom prst="line">
            <a:avLst/>
          </a:prstGeom>
          <a:noFill/>
          <a:ln w="50800">
            <a:solidFill>
              <a:srgbClr val="475E75"/>
            </a:solidFill>
            <a:prstDash val="solid"/>
            <a:tailEnd type="triangle"/>
          </a:ln>
        </p:spPr>
      </p:sp>
      <p:sp>
        <p:nvSpPr>
          <p:cNvPr id="30" name="Shape 22"/>
          <p:cNvSpPr/>
          <p:nvPr/>
        </p:nvSpPr>
        <p:spPr>
          <a:xfrm>
            <a:off x="2697480" y="5120640"/>
            <a:ext cx="457200" cy="0"/>
          </a:xfrm>
          <a:prstGeom prst="line">
            <a:avLst/>
          </a:prstGeom>
          <a:noFill/>
          <a:ln w="50800">
            <a:solidFill>
              <a:srgbClr val="475E75"/>
            </a:solidFill>
            <a:prstDash val="solid"/>
          </a:ln>
        </p:spPr>
      </p:sp>
      <p:sp>
        <p:nvSpPr>
          <p:cNvPr id="31" name="Shape 23"/>
          <p:cNvSpPr/>
          <p:nvPr/>
        </p:nvSpPr>
        <p:spPr>
          <a:xfrm flipV="1">
            <a:off x="3154680" y="2743200"/>
            <a:ext cx="0" cy="2377440"/>
          </a:xfrm>
          <a:prstGeom prst="line">
            <a:avLst/>
          </a:prstGeom>
          <a:noFill/>
          <a:ln w="50800">
            <a:solidFill>
              <a:srgbClr val="475E75"/>
            </a:solidFill>
            <a:prstDash val="solid"/>
          </a:ln>
        </p:spPr>
      </p:sp>
      <p:sp>
        <p:nvSpPr>
          <p:cNvPr id="32" name="Shape 24"/>
          <p:cNvSpPr/>
          <p:nvPr/>
        </p:nvSpPr>
        <p:spPr>
          <a:xfrm>
            <a:off x="3154680" y="2743200"/>
            <a:ext cx="457200" cy="0"/>
          </a:xfrm>
          <a:prstGeom prst="line">
            <a:avLst/>
          </a:prstGeom>
          <a:noFill/>
          <a:ln w="50800">
            <a:solidFill>
              <a:srgbClr val="475E75"/>
            </a:solidFill>
            <a:prstDash val="solid"/>
            <a:tailEnd type="triangle"/>
          </a:ln>
        </p:spPr>
      </p:sp>
      <p:sp>
        <p:nvSpPr>
          <p:cNvPr id="33" name="Shape 25"/>
          <p:cNvSpPr/>
          <p:nvPr/>
        </p:nvSpPr>
        <p:spPr>
          <a:xfrm>
            <a:off x="6080760" y="3108960"/>
            <a:ext cx="0" cy="411480"/>
          </a:xfrm>
          <a:prstGeom prst="line">
            <a:avLst/>
          </a:prstGeom>
          <a:noFill/>
          <a:ln w="50800">
            <a:solidFill>
              <a:srgbClr val="475E75"/>
            </a:solidFill>
            <a:prstDash val="solid"/>
            <a:tailEnd type="triangle"/>
          </a:ln>
        </p:spPr>
      </p:sp>
      <p:sp>
        <p:nvSpPr>
          <p:cNvPr id="34" name="Shape 26"/>
          <p:cNvSpPr/>
          <p:nvPr/>
        </p:nvSpPr>
        <p:spPr>
          <a:xfrm>
            <a:off x="8549640" y="4069080"/>
            <a:ext cx="914400" cy="0"/>
          </a:xfrm>
          <a:prstGeom prst="line">
            <a:avLst/>
          </a:prstGeom>
          <a:noFill/>
          <a:ln w="50800">
            <a:solidFill>
              <a:srgbClr val="475E75"/>
            </a:solidFill>
            <a:prstDash val="solid"/>
            <a:tailEnd type="triangle"/>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4000" b="1" dirty="0">
                <a:solidFill>
                  <a:srgbClr val="1D2D3E"/>
                </a:solidFill>
                <a:latin typeface="Arial" pitchFamily="34" charset="0"/>
                <a:ea typeface="Arial" pitchFamily="34" charset="-122"/>
                <a:cs typeface="Arial" pitchFamily="34" charset="-120"/>
              </a:rPr>
              <a:t>Agents are configured, not coded</a:t>
            </a:r>
            <a:endParaRPr lang="en-US" sz="4000" dirty="0"/>
          </a:p>
        </p:txBody>
      </p:sp>
      <p:sp>
        <p:nvSpPr>
          <p:cNvPr id="3" name="Shape 1"/>
          <p:cNvSpPr/>
          <p:nvPr/>
        </p:nvSpPr>
        <p:spPr>
          <a:xfrm>
            <a:off x="548640" y="2011680"/>
            <a:ext cx="3108960" cy="2468880"/>
          </a:xfrm>
          <a:prstGeom prst="roundRect">
            <a:avLst>
              <a:gd name="adj" fmla="val 7407"/>
            </a:avLst>
          </a:prstGeom>
          <a:solidFill>
            <a:srgbClr val="FFFFFF"/>
          </a:solidFill>
          <a:ln w="31750">
            <a:solidFill>
              <a:srgbClr val="0070F2"/>
            </a:solidFill>
            <a:prstDash val="solid"/>
          </a:ln>
        </p:spPr>
      </p:sp>
      <p:pic>
        <p:nvPicPr>
          <p:cNvPr id="4" name="Image 0" descr="preencoded.png">    </p:cNvPr>
          <p:cNvPicPr>
            <a:picLocks noChangeAspect="1"/>
          </p:cNvPicPr>
          <p:nvPr/>
        </p:nvPicPr>
        <p:blipFill>
          <a:blip r:embed="rId1"/>
          <a:stretch>
            <a:fillRect/>
          </a:stretch>
        </p:blipFill>
        <p:spPr>
          <a:xfrm>
            <a:off x="1691640" y="2286000"/>
            <a:ext cx="822960" cy="822960"/>
          </a:xfrm>
          <a:prstGeom prst="rect">
            <a:avLst/>
          </a:prstGeom>
        </p:spPr>
      </p:pic>
      <p:sp>
        <p:nvSpPr>
          <p:cNvPr id="5" name="Text 2"/>
          <p:cNvSpPr txBox="1"/>
          <p:nvPr/>
        </p:nvSpPr>
        <p:spPr>
          <a:xfrm>
            <a:off x="685800" y="3246120"/>
            <a:ext cx="2834640" cy="1097280"/>
          </a:xfrm>
          <a:prstGeom prst="rect">
            <a:avLst/>
          </a:prstGeom>
          <a:noFill/>
          <a:ln/>
        </p:spPr>
        <p:txBody>
          <a:bodyPr wrap="square" lIns="0" tIns="0" rIns="0" bIns="0" rtlCol="0" anchor="t"/>
          <a:lstStyle/>
          <a:p>
            <a:pPr algn="ctr" indent="0" marL="0">
              <a:buNone/>
            </a:pPr>
            <a:r>
              <a:rPr lang="en-US" sz="2800" b="1" dirty="0">
                <a:solidFill>
                  <a:srgbClr val="1D2D3E"/>
                </a:solidFill>
                <a:latin typeface="Arial" pitchFamily="34" charset="0"/>
                <a:ea typeface="Arial" pitchFamily="34" charset="-122"/>
                <a:cs typeface="Arial" pitchFamily="34" charset="-120"/>
              </a:rPr>
              <a:t>Admin UI</a:t>
            </a:r>
            <a:endParaRPr lang="en-US" sz="2800" dirty="0"/>
          </a:p>
          <a:p>
            <a:pPr algn="ctr" indent="0" marL="0">
              <a:buNone/>
            </a:pPr>
            <a:r>
              <a:rPr lang="en-US" sz="2000" dirty="0">
                <a:solidFill>
                  <a:srgbClr val="556B82"/>
                </a:solidFill>
                <a:latin typeface="Arial" pitchFamily="34" charset="0"/>
                <a:ea typeface="Arial" pitchFamily="34" charset="-122"/>
                <a:cs typeface="Arial" pitchFamily="34" charset="-120"/>
              </a:rPr>
              <a:t>describe the agent</a:t>
            </a:r>
            <a:endParaRPr lang="en-US" sz="2800" dirty="0"/>
          </a:p>
        </p:txBody>
      </p:sp>
      <p:sp>
        <p:nvSpPr>
          <p:cNvPr id="6" name="Shape 3"/>
          <p:cNvSpPr/>
          <p:nvPr/>
        </p:nvSpPr>
        <p:spPr>
          <a:xfrm>
            <a:off x="4544568" y="2011680"/>
            <a:ext cx="3108960" cy="2468880"/>
          </a:xfrm>
          <a:prstGeom prst="roundRect">
            <a:avLst>
              <a:gd name="adj" fmla="val 7407"/>
            </a:avLst>
          </a:prstGeom>
          <a:solidFill>
            <a:srgbClr val="FFFFFF"/>
          </a:solidFill>
          <a:ln w="31750">
            <a:solidFill>
              <a:srgbClr val="0070F2"/>
            </a:solidFill>
            <a:prstDash val="solid"/>
          </a:ln>
        </p:spPr>
      </p:sp>
      <p:pic>
        <p:nvPicPr>
          <p:cNvPr id="7" name="Image 1" descr="preencoded.png">    </p:cNvPr>
          <p:cNvPicPr>
            <a:picLocks noChangeAspect="1"/>
          </p:cNvPicPr>
          <p:nvPr/>
        </p:nvPicPr>
        <p:blipFill>
          <a:blip r:embed="rId2"/>
          <a:stretch>
            <a:fillRect/>
          </a:stretch>
        </p:blipFill>
        <p:spPr>
          <a:xfrm>
            <a:off x="5687568" y="2286000"/>
            <a:ext cx="822960" cy="822960"/>
          </a:xfrm>
          <a:prstGeom prst="rect">
            <a:avLst/>
          </a:prstGeom>
        </p:spPr>
      </p:pic>
      <p:sp>
        <p:nvSpPr>
          <p:cNvPr id="8" name="Text 4"/>
          <p:cNvSpPr txBox="1"/>
          <p:nvPr/>
        </p:nvSpPr>
        <p:spPr>
          <a:xfrm>
            <a:off x="4681728" y="3246120"/>
            <a:ext cx="2834640" cy="1097280"/>
          </a:xfrm>
          <a:prstGeom prst="rect">
            <a:avLst/>
          </a:prstGeom>
          <a:noFill/>
          <a:ln/>
        </p:spPr>
        <p:txBody>
          <a:bodyPr wrap="square" lIns="0" tIns="0" rIns="0" bIns="0" rtlCol="0" anchor="t"/>
          <a:lstStyle/>
          <a:p>
            <a:pPr algn="ctr" indent="0" marL="0">
              <a:buNone/>
            </a:pPr>
            <a:r>
              <a:rPr lang="en-US" sz="2800" b="1" dirty="0">
                <a:solidFill>
                  <a:srgbClr val="1D2D3E"/>
                </a:solidFill>
                <a:latin typeface="Arial" pitchFamily="34" charset="0"/>
                <a:ea typeface="Arial" pitchFamily="34" charset="-122"/>
                <a:cs typeface="Arial" pitchFamily="34" charset="-120"/>
              </a:rPr>
              <a:t>Saved</a:t>
            </a:r>
            <a:endParaRPr lang="en-US" sz="2800" dirty="0"/>
          </a:p>
          <a:p>
            <a:pPr algn="ctr" indent="0" marL="0">
              <a:buNone/>
            </a:pPr>
            <a:r>
              <a:rPr lang="en-US" sz="2000" dirty="0">
                <a:solidFill>
                  <a:srgbClr val="556B82"/>
                </a:solidFill>
                <a:latin typeface="Arial" pitchFamily="34" charset="0"/>
                <a:ea typeface="Arial" pitchFamily="34" charset="-122"/>
                <a:cs typeface="Arial" pitchFamily="34" charset="-120"/>
              </a:rPr>
              <a:t>in PostgreSQL</a:t>
            </a:r>
            <a:endParaRPr lang="en-US" sz="2800" dirty="0"/>
          </a:p>
        </p:txBody>
      </p:sp>
      <p:sp>
        <p:nvSpPr>
          <p:cNvPr id="9" name="Shape 5"/>
          <p:cNvSpPr/>
          <p:nvPr/>
        </p:nvSpPr>
        <p:spPr>
          <a:xfrm>
            <a:off x="8531352" y="2011680"/>
            <a:ext cx="3108960" cy="2468880"/>
          </a:xfrm>
          <a:prstGeom prst="roundRect">
            <a:avLst>
              <a:gd name="adj" fmla="val 7407"/>
            </a:avLst>
          </a:prstGeom>
          <a:solidFill>
            <a:srgbClr val="FFFFFF"/>
          </a:solidFill>
          <a:ln w="31750">
            <a:solidFill>
              <a:srgbClr val="0070F2"/>
            </a:solidFill>
            <a:prstDash val="solid"/>
          </a:ln>
        </p:spPr>
      </p:sp>
      <p:pic>
        <p:nvPicPr>
          <p:cNvPr id="10" name="Image 2" descr="preencoded.png">    </p:cNvPr>
          <p:cNvPicPr>
            <a:picLocks noChangeAspect="1"/>
          </p:cNvPicPr>
          <p:nvPr/>
        </p:nvPicPr>
        <p:blipFill>
          <a:blip r:embed="rId3"/>
          <a:stretch>
            <a:fillRect/>
          </a:stretch>
        </p:blipFill>
        <p:spPr>
          <a:xfrm>
            <a:off x="9674352" y="2286000"/>
            <a:ext cx="822960" cy="822960"/>
          </a:xfrm>
          <a:prstGeom prst="rect">
            <a:avLst/>
          </a:prstGeom>
        </p:spPr>
      </p:pic>
      <p:sp>
        <p:nvSpPr>
          <p:cNvPr id="11" name="Text 6"/>
          <p:cNvSpPr txBox="1"/>
          <p:nvPr/>
        </p:nvSpPr>
        <p:spPr>
          <a:xfrm>
            <a:off x="8668512" y="3246120"/>
            <a:ext cx="2834640" cy="1097280"/>
          </a:xfrm>
          <a:prstGeom prst="rect">
            <a:avLst/>
          </a:prstGeom>
          <a:noFill/>
          <a:ln/>
        </p:spPr>
        <p:txBody>
          <a:bodyPr wrap="square" lIns="0" tIns="0" rIns="0" bIns="0" rtlCol="0" anchor="t"/>
          <a:lstStyle/>
          <a:p>
            <a:pPr algn="ctr" indent="0" marL="0">
              <a:buNone/>
            </a:pPr>
            <a:r>
              <a:rPr lang="en-US" sz="2800" b="1" dirty="0">
                <a:solidFill>
                  <a:srgbClr val="1D2D3E"/>
                </a:solidFill>
                <a:latin typeface="Arial" pitchFamily="34" charset="0"/>
                <a:ea typeface="Arial" pitchFamily="34" charset="-122"/>
                <a:cs typeface="Arial" pitchFamily="34" charset="-120"/>
              </a:rPr>
              <a:t>Live</a:t>
            </a:r>
            <a:endParaRPr lang="en-US" sz="2800" dirty="0"/>
          </a:p>
          <a:p>
            <a:pPr algn="ctr" indent="0" marL="0">
              <a:buNone/>
            </a:pPr>
            <a:r>
              <a:rPr lang="en-US" sz="2000" dirty="0">
                <a:solidFill>
                  <a:srgbClr val="556B82"/>
                </a:solidFill>
                <a:latin typeface="Arial" pitchFamily="34" charset="0"/>
                <a:ea typeface="Arial" pitchFamily="34" charset="-122"/>
                <a:cs typeface="Arial" pitchFamily="34" charset="-120"/>
              </a:rPr>
              <a:t>no redeploy</a:t>
            </a:r>
            <a:endParaRPr lang="en-US" sz="2800" dirty="0"/>
          </a:p>
        </p:txBody>
      </p:sp>
      <p:sp>
        <p:nvSpPr>
          <p:cNvPr id="12" name="Shape 7"/>
          <p:cNvSpPr/>
          <p:nvPr/>
        </p:nvSpPr>
        <p:spPr>
          <a:xfrm>
            <a:off x="3657600" y="3246120"/>
            <a:ext cx="886968" cy="0"/>
          </a:xfrm>
          <a:prstGeom prst="line">
            <a:avLst/>
          </a:prstGeom>
          <a:noFill/>
          <a:ln w="50800">
            <a:solidFill>
              <a:srgbClr val="475E75"/>
            </a:solidFill>
            <a:prstDash val="solid"/>
            <a:tailEnd type="triangle"/>
          </a:ln>
        </p:spPr>
      </p:sp>
      <p:sp>
        <p:nvSpPr>
          <p:cNvPr id="13" name="Shape 8"/>
          <p:cNvSpPr/>
          <p:nvPr/>
        </p:nvSpPr>
        <p:spPr>
          <a:xfrm>
            <a:off x="7653528" y="3246120"/>
            <a:ext cx="877824" cy="0"/>
          </a:xfrm>
          <a:prstGeom prst="line">
            <a:avLst/>
          </a:prstGeom>
          <a:noFill/>
          <a:ln w="50800">
            <a:solidFill>
              <a:srgbClr val="475E75"/>
            </a:solidFill>
            <a:prstDash val="solid"/>
            <a:tailEnd type="triangle"/>
          </a:ln>
        </p:spPr>
      </p:sp>
      <p:sp>
        <p:nvSpPr>
          <p:cNvPr id="14" name="Text 9"/>
          <p:cNvSpPr txBox="1"/>
          <p:nvPr/>
        </p:nvSpPr>
        <p:spPr>
          <a:xfrm>
            <a:off x="548640" y="5120640"/>
            <a:ext cx="11064240" cy="640080"/>
          </a:xfrm>
          <a:prstGeom prst="rect">
            <a:avLst/>
          </a:prstGeom>
          <a:noFill/>
          <a:ln/>
        </p:spPr>
        <p:txBody>
          <a:bodyPr wrap="square" lIns="0" tIns="0" rIns="0" bIns="0" rtlCol="0" anchor="ctr"/>
          <a:lstStyle/>
          <a:p>
            <a:pPr algn="ctr" indent="0" marL="0">
              <a:buNone/>
            </a:pPr>
            <a:r>
              <a:rPr lang="en-US" sz="2800" b="1" dirty="0">
                <a:solidFill>
                  <a:srgbClr val="0070F2"/>
                </a:solidFill>
                <a:latin typeface="Arial" pitchFamily="34" charset="0"/>
                <a:ea typeface="Arial" pitchFamily="34" charset="-122"/>
                <a:cs typeface="Arial" pitchFamily="34" charset="-120"/>
              </a:rPr>
              <a:t>Reload, and the new agent is in the chat.</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20040"/>
            <a:ext cx="11064240" cy="822960"/>
          </a:xfrm>
          <a:prstGeom prst="rect">
            <a:avLst/>
          </a:prstGeom>
          <a:noFill/>
          <a:ln/>
        </p:spPr>
        <p:txBody>
          <a:bodyPr wrap="square" lIns="0" tIns="0" rIns="0" bIns="0" rtlCol="0" anchor="ctr"/>
          <a:lstStyle/>
          <a:p>
            <a:pPr indent="0" marL="0">
              <a:buNone/>
            </a:pPr>
            <a:r>
              <a:rPr lang="en-US" sz="4000" b="1" dirty="0">
                <a:solidFill>
                  <a:srgbClr val="1D2D3E"/>
                </a:solidFill>
                <a:latin typeface="Arial" pitchFamily="34" charset="0"/>
                <a:ea typeface="Arial" pitchFamily="34" charset="-122"/>
                <a:cs typeface="Arial" pitchFamily="34" charset="-120"/>
              </a:rPr>
              <a:t>It acts as you</a:t>
            </a:r>
            <a:endParaRPr lang="en-US" sz="4000" dirty="0"/>
          </a:p>
        </p:txBody>
      </p:sp>
      <p:sp>
        <p:nvSpPr>
          <p:cNvPr id="3" name="Shape 1"/>
          <p:cNvSpPr/>
          <p:nvPr/>
        </p:nvSpPr>
        <p:spPr>
          <a:xfrm>
            <a:off x="548640" y="2011680"/>
            <a:ext cx="2286000" cy="2468880"/>
          </a:xfrm>
          <a:prstGeom prst="roundRect">
            <a:avLst>
              <a:gd name="adj" fmla="val 8000"/>
            </a:avLst>
          </a:prstGeom>
          <a:solidFill>
            <a:srgbClr val="FFFFFF"/>
          </a:solidFill>
          <a:ln w="31750">
            <a:solidFill>
              <a:srgbClr val="475E75"/>
            </a:solidFill>
            <a:prstDash val="solid"/>
          </a:ln>
        </p:spPr>
      </p:sp>
      <p:pic>
        <p:nvPicPr>
          <p:cNvPr id="4" name="Image 0" descr="preencoded.png">    </p:cNvPr>
          <p:cNvPicPr>
            <a:picLocks noChangeAspect="1"/>
          </p:cNvPicPr>
          <p:nvPr/>
        </p:nvPicPr>
        <p:blipFill>
          <a:blip r:embed="rId1"/>
          <a:stretch>
            <a:fillRect/>
          </a:stretch>
        </p:blipFill>
        <p:spPr>
          <a:xfrm>
            <a:off x="1280160" y="2286000"/>
            <a:ext cx="822960" cy="822960"/>
          </a:xfrm>
          <a:prstGeom prst="rect">
            <a:avLst/>
          </a:prstGeom>
        </p:spPr>
      </p:pic>
      <p:sp>
        <p:nvSpPr>
          <p:cNvPr id="5" name="Text 2"/>
          <p:cNvSpPr txBox="1"/>
          <p:nvPr/>
        </p:nvSpPr>
        <p:spPr>
          <a:xfrm>
            <a:off x="685800" y="3246120"/>
            <a:ext cx="2011680" cy="1097280"/>
          </a:xfrm>
          <a:prstGeom prst="rect">
            <a:avLst/>
          </a:prstGeom>
          <a:noFill/>
          <a:ln/>
        </p:spPr>
        <p:txBody>
          <a:bodyPr wrap="square" lIns="0" tIns="0" rIns="0" bIns="0" rtlCol="0" anchor="t"/>
          <a:lstStyle/>
          <a:p>
            <a:pPr algn="ctr" indent="0" marL="0">
              <a:buNone/>
            </a:pPr>
            <a:r>
              <a:rPr lang="en-US" sz="2800" b="1" dirty="0">
                <a:solidFill>
                  <a:srgbClr val="1D2D3E"/>
                </a:solidFill>
                <a:latin typeface="Arial" pitchFamily="34" charset="0"/>
                <a:ea typeface="Arial" pitchFamily="34" charset="-122"/>
                <a:cs typeface="Arial" pitchFamily="34" charset="-120"/>
              </a:rPr>
              <a:t>You</a:t>
            </a:r>
            <a:endParaRPr lang="en-US" sz="2800" dirty="0"/>
          </a:p>
          <a:p>
            <a:pPr algn="ctr" indent="0" marL="0">
              <a:buNone/>
            </a:pPr>
            <a:r>
              <a:rPr lang="en-US" sz="2000" dirty="0">
                <a:solidFill>
                  <a:srgbClr val="556B82"/>
                </a:solidFill>
                <a:latin typeface="Arial" pitchFamily="34" charset="0"/>
                <a:ea typeface="Arial" pitchFamily="34" charset="-122"/>
                <a:cs typeface="Arial" pitchFamily="34" charset="-120"/>
              </a:rPr>
              <a:t>sign in</a:t>
            </a:r>
            <a:endParaRPr lang="en-US" sz="2800" dirty="0"/>
          </a:p>
        </p:txBody>
      </p:sp>
      <p:sp>
        <p:nvSpPr>
          <p:cNvPr id="6" name="Shape 3"/>
          <p:cNvSpPr/>
          <p:nvPr/>
        </p:nvSpPr>
        <p:spPr>
          <a:xfrm>
            <a:off x="3493008" y="2011680"/>
            <a:ext cx="2286000" cy="2468880"/>
          </a:xfrm>
          <a:prstGeom prst="roundRect">
            <a:avLst>
              <a:gd name="adj" fmla="val 8000"/>
            </a:avLst>
          </a:prstGeom>
          <a:solidFill>
            <a:srgbClr val="FFFFFF"/>
          </a:solidFill>
          <a:ln w="31750">
            <a:solidFill>
              <a:srgbClr val="0070F2"/>
            </a:solidFill>
            <a:prstDash val="solid"/>
          </a:ln>
        </p:spPr>
      </p:sp>
      <p:pic>
        <p:nvPicPr>
          <p:cNvPr id="7" name="Image 1" descr="preencoded.png">    </p:cNvPr>
          <p:cNvPicPr>
            <a:picLocks noChangeAspect="1"/>
          </p:cNvPicPr>
          <p:nvPr/>
        </p:nvPicPr>
        <p:blipFill>
          <a:blip r:embed="rId2"/>
          <a:stretch>
            <a:fillRect/>
          </a:stretch>
        </p:blipFill>
        <p:spPr>
          <a:xfrm>
            <a:off x="4224528" y="2286000"/>
            <a:ext cx="822960" cy="822960"/>
          </a:xfrm>
          <a:prstGeom prst="rect">
            <a:avLst/>
          </a:prstGeom>
        </p:spPr>
      </p:pic>
      <p:sp>
        <p:nvSpPr>
          <p:cNvPr id="8" name="Text 4"/>
          <p:cNvSpPr txBox="1"/>
          <p:nvPr/>
        </p:nvSpPr>
        <p:spPr>
          <a:xfrm>
            <a:off x="3630168" y="3246120"/>
            <a:ext cx="2011680" cy="1097280"/>
          </a:xfrm>
          <a:prstGeom prst="rect">
            <a:avLst/>
          </a:prstGeom>
          <a:noFill/>
          <a:ln/>
        </p:spPr>
        <p:txBody>
          <a:bodyPr wrap="square" lIns="0" tIns="0" rIns="0" bIns="0" rtlCol="0" anchor="t"/>
          <a:lstStyle/>
          <a:p>
            <a:pPr algn="ctr" indent="0" marL="0">
              <a:buNone/>
            </a:pPr>
            <a:r>
              <a:rPr lang="en-US" sz="2800" b="1" dirty="0">
                <a:solidFill>
                  <a:srgbClr val="1D2D3E"/>
                </a:solidFill>
                <a:latin typeface="Arial" pitchFamily="34" charset="0"/>
                <a:ea typeface="Arial" pitchFamily="34" charset="-122"/>
                <a:cs typeface="Arial" pitchFamily="34" charset="-120"/>
              </a:rPr>
              <a:t>XSUAA</a:t>
            </a:r>
            <a:endParaRPr lang="en-US" sz="2800" dirty="0"/>
          </a:p>
          <a:p>
            <a:pPr algn="ctr" indent="0" marL="0">
              <a:buNone/>
            </a:pPr>
            <a:r>
              <a:rPr lang="en-US" sz="2000" dirty="0">
                <a:solidFill>
                  <a:srgbClr val="556B82"/>
                </a:solidFill>
                <a:latin typeface="Arial" pitchFamily="34" charset="0"/>
                <a:ea typeface="Arial" pitchFamily="34" charset="-122"/>
                <a:cs typeface="Arial" pitchFamily="34" charset="-120"/>
              </a:rPr>
              <a:t>checks roles</a:t>
            </a:r>
            <a:endParaRPr lang="en-US" sz="2800" dirty="0"/>
          </a:p>
        </p:txBody>
      </p:sp>
      <p:sp>
        <p:nvSpPr>
          <p:cNvPr id="9" name="Shape 5"/>
          <p:cNvSpPr/>
          <p:nvPr/>
        </p:nvSpPr>
        <p:spPr>
          <a:xfrm>
            <a:off x="6437376" y="2011680"/>
            <a:ext cx="2286000" cy="2468880"/>
          </a:xfrm>
          <a:prstGeom prst="roundRect">
            <a:avLst>
              <a:gd name="adj" fmla="val 8000"/>
            </a:avLst>
          </a:prstGeom>
          <a:solidFill>
            <a:srgbClr val="FFFFFF"/>
          </a:solidFill>
          <a:ln w="31750">
            <a:solidFill>
              <a:srgbClr val="0070F2"/>
            </a:solidFill>
            <a:prstDash val="solid"/>
          </a:ln>
        </p:spPr>
      </p:sp>
      <p:pic>
        <p:nvPicPr>
          <p:cNvPr id="10" name="Image 2" descr="preencoded.png">    </p:cNvPr>
          <p:cNvPicPr>
            <a:picLocks noChangeAspect="1"/>
          </p:cNvPicPr>
          <p:nvPr/>
        </p:nvPicPr>
        <p:blipFill>
          <a:blip r:embed="rId3"/>
          <a:stretch>
            <a:fillRect/>
          </a:stretch>
        </p:blipFill>
        <p:spPr>
          <a:xfrm>
            <a:off x="7168896" y="2286000"/>
            <a:ext cx="822960" cy="822960"/>
          </a:xfrm>
          <a:prstGeom prst="rect">
            <a:avLst/>
          </a:prstGeom>
        </p:spPr>
      </p:pic>
      <p:sp>
        <p:nvSpPr>
          <p:cNvPr id="11" name="Text 6"/>
          <p:cNvSpPr txBox="1"/>
          <p:nvPr/>
        </p:nvSpPr>
        <p:spPr>
          <a:xfrm>
            <a:off x="6574536" y="3246120"/>
            <a:ext cx="2011680" cy="1097280"/>
          </a:xfrm>
          <a:prstGeom prst="rect">
            <a:avLst/>
          </a:prstGeom>
          <a:noFill/>
          <a:ln/>
        </p:spPr>
        <p:txBody>
          <a:bodyPr wrap="square" lIns="0" tIns="0" rIns="0" bIns="0" rtlCol="0" anchor="t"/>
          <a:lstStyle/>
          <a:p>
            <a:pPr algn="ctr" indent="0" marL="0">
              <a:buNone/>
            </a:pPr>
            <a:r>
              <a:rPr lang="en-US" sz="2800" b="1" dirty="0">
                <a:solidFill>
                  <a:srgbClr val="1D2D3E"/>
                </a:solidFill>
                <a:latin typeface="Arial" pitchFamily="34" charset="0"/>
                <a:ea typeface="Arial" pitchFamily="34" charset="-122"/>
                <a:cs typeface="Arial" pitchFamily="34" charset="-120"/>
              </a:rPr>
              <a:t>Agent</a:t>
            </a:r>
            <a:endParaRPr lang="en-US" sz="2800" dirty="0"/>
          </a:p>
          <a:p>
            <a:pPr algn="ctr" indent="0" marL="0">
              <a:buNone/>
            </a:pPr>
            <a:r>
              <a:rPr lang="en-US" sz="2000" dirty="0">
                <a:solidFill>
                  <a:srgbClr val="556B82"/>
                </a:solidFill>
                <a:latin typeface="Arial" pitchFamily="34" charset="0"/>
                <a:ea typeface="Arial" pitchFamily="34" charset="-122"/>
                <a:cs typeface="Arial" pitchFamily="34" charset="-120"/>
              </a:rPr>
              <a:t>passes token</a:t>
            </a:r>
            <a:endParaRPr lang="en-US" sz="2800" dirty="0"/>
          </a:p>
        </p:txBody>
      </p:sp>
      <p:sp>
        <p:nvSpPr>
          <p:cNvPr id="12" name="Shape 7"/>
          <p:cNvSpPr/>
          <p:nvPr/>
        </p:nvSpPr>
        <p:spPr>
          <a:xfrm>
            <a:off x="9381744" y="2011680"/>
            <a:ext cx="2286000" cy="2468880"/>
          </a:xfrm>
          <a:prstGeom prst="roundRect">
            <a:avLst>
              <a:gd name="adj" fmla="val 8000"/>
            </a:avLst>
          </a:prstGeom>
          <a:solidFill>
            <a:srgbClr val="FFFFFF"/>
          </a:solidFill>
          <a:ln w="31750">
            <a:solidFill>
              <a:srgbClr val="475E75"/>
            </a:solidFill>
            <a:prstDash val="solid"/>
          </a:ln>
        </p:spPr>
      </p:sp>
      <p:pic>
        <p:nvPicPr>
          <p:cNvPr id="13" name="Image 3" descr="preencoded.png">    </p:cNvPr>
          <p:cNvPicPr>
            <a:picLocks noChangeAspect="1"/>
          </p:cNvPicPr>
          <p:nvPr/>
        </p:nvPicPr>
        <p:blipFill>
          <a:blip r:embed="rId4"/>
          <a:stretch>
            <a:fillRect/>
          </a:stretch>
        </p:blipFill>
        <p:spPr>
          <a:xfrm>
            <a:off x="10113264" y="2286000"/>
            <a:ext cx="822960" cy="822960"/>
          </a:xfrm>
          <a:prstGeom prst="rect">
            <a:avLst/>
          </a:prstGeom>
        </p:spPr>
      </p:pic>
      <p:sp>
        <p:nvSpPr>
          <p:cNvPr id="14" name="Text 8"/>
          <p:cNvSpPr txBox="1"/>
          <p:nvPr/>
        </p:nvSpPr>
        <p:spPr>
          <a:xfrm>
            <a:off x="9518904" y="3246120"/>
            <a:ext cx="2011680" cy="1097280"/>
          </a:xfrm>
          <a:prstGeom prst="rect">
            <a:avLst/>
          </a:prstGeom>
          <a:noFill/>
          <a:ln/>
        </p:spPr>
        <p:txBody>
          <a:bodyPr wrap="square" lIns="0" tIns="0" rIns="0" bIns="0" rtlCol="0" anchor="t"/>
          <a:lstStyle/>
          <a:p>
            <a:pPr algn="ctr" indent="0" marL="0">
              <a:buNone/>
            </a:pPr>
            <a:r>
              <a:rPr lang="en-US" sz="2800" b="1" dirty="0">
                <a:solidFill>
                  <a:srgbClr val="1D2D3E"/>
                </a:solidFill>
                <a:latin typeface="Arial" pitchFamily="34" charset="0"/>
                <a:ea typeface="Arial" pitchFamily="34" charset="-122"/>
                <a:cs typeface="Arial" pitchFamily="34" charset="-120"/>
              </a:rPr>
              <a:t>System</a:t>
            </a:r>
            <a:endParaRPr lang="en-US" sz="2800" dirty="0"/>
          </a:p>
          <a:p>
            <a:pPr algn="ctr" indent="0" marL="0">
              <a:buNone/>
            </a:pPr>
            <a:r>
              <a:rPr lang="en-US" sz="2000" dirty="0">
                <a:solidFill>
                  <a:srgbClr val="556B82"/>
                </a:solidFill>
                <a:latin typeface="Arial" pitchFamily="34" charset="0"/>
                <a:ea typeface="Arial" pitchFamily="34" charset="-122"/>
                <a:cs typeface="Arial" pitchFamily="34" charset="-120"/>
              </a:rPr>
              <a:t>your data only</a:t>
            </a:r>
            <a:endParaRPr lang="en-US" sz="2800" dirty="0"/>
          </a:p>
        </p:txBody>
      </p:sp>
      <p:sp>
        <p:nvSpPr>
          <p:cNvPr id="15" name="Shape 9"/>
          <p:cNvSpPr/>
          <p:nvPr/>
        </p:nvSpPr>
        <p:spPr>
          <a:xfrm>
            <a:off x="2834640" y="3246120"/>
            <a:ext cx="658368" cy="0"/>
          </a:xfrm>
          <a:prstGeom prst="line">
            <a:avLst/>
          </a:prstGeom>
          <a:noFill/>
          <a:ln w="50800">
            <a:solidFill>
              <a:srgbClr val="188918"/>
            </a:solidFill>
            <a:prstDash val="solid"/>
            <a:tailEnd type="triangle"/>
          </a:ln>
        </p:spPr>
      </p:sp>
      <p:sp>
        <p:nvSpPr>
          <p:cNvPr id="16" name="Shape 10"/>
          <p:cNvSpPr/>
          <p:nvPr/>
        </p:nvSpPr>
        <p:spPr>
          <a:xfrm>
            <a:off x="5779008" y="3246120"/>
            <a:ext cx="658368" cy="0"/>
          </a:xfrm>
          <a:prstGeom prst="line">
            <a:avLst/>
          </a:prstGeom>
          <a:noFill/>
          <a:ln w="50800">
            <a:solidFill>
              <a:srgbClr val="188918"/>
            </a:solidFill>
            <a:prstDash val="solid"/>
            <a:tailEnd type="triangle"/>
          </a:ln>
        </p:spPr>
      </p:sp>
      <p:sp>
        <p:nvSpPr>
          <p:cNvPr id="17" name="Shape 11"/>
          <p:cNvSpPr/>
          <p:nvPr/>
        </p:nvSpPr>
        <p:spPr>
          <a:xfrm>
            <a:off x="8723376" y="3246120"/>
            <a:ext cx="658368" cy="0"/>
          </a:xfrm>
          <a:prstGeom prst="line">
            <a:avLst/>
          </a:prstGeom>
          <a:noFill/>
          <a:ln w="50800">
            <a:solidFill>
              <a:srgbClr val="188918"/>
            </a:solidFill>
            <a:prstDash val="solid"/>
            <a:tailEnd type="triangle"/>
          </a:ln>
        </p:spPr>
      </p:sp>
      <p:sp>
        <p:nvSpPr>
          <p:cNvPr id="18" name="Text 12"/>
          <p:cNvSpPr txBox="1"/>
          <p:nvPr/>
        </p:nvSpPr>
        <p:spPr>
          <a:xfrm>
            <a:off x="548640" y="5120640"/>
            <a:ext cx="11064240" cy="640080"/>
          </a:xfrm>
          <a:prstGeom prst="rect">
            <a:avLst/>
          </a:prstGeom>
          <a:noFill/>
          <a:ln/>
        </p:spPr>
        <p:txBody>
          <a:bodyPr wrap="square" lIns="0" tIns="0" rIns="0" bIns="0" rtlCol="0" anchor="ctr"/>
          <a:lstStyle/>
          <a:p>
            <a:pPr algn="ctr" indent="0" marL="0">
              <a:buNone/>
            </a:pPr>
            <a:r>
              <a:rPr lang="en-US" sz="2800" b="1" dirty="0">
                <a:solidFill>
                  <a:srgbClr val="188918"/>
                </a:solidFill>
                <a:latin typeface="Arial" pitchFamily="34" charset="0"/>
                <a:ea typeface="Arial" pitchFamily="34" charset="-122"/>
                <a:cs typeface="Arial" pitchFamily="34" charset="-120"/>
              </a:rPr>
              <a:t>Same rights as in the system itself.</a:t>
            </a:r>
            <a:endParaRPr lang="en-US" sz="2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SAP BTP Dynamic Multi-Agent</dc:title>
  <dc:subject>PptxGenJS Presentation</dc:subject>
  <dc:creator>PptxGenJS</dc:creator>
  <cp:lastModifiedBy>PptxGenJS</cp:lastModifiedBy>
  <cp:revision>1</cp:revision>
  <dcterms:created xsi:type="dcterms:W3CDTF">2026-10-01T06:32:28Z</dcterms:created>
  <dcterms:modified xsi:type="dcterms:W3CDTF">2026-10-01T06:32:28Z</dcterms:modified>
</cp:coreProperties>
</file>