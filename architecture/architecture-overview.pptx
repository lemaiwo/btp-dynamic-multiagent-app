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453360" cy="8692515"/>
  <p:notesSz cx="8692515" cy="154533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834962"/>
            <a:ext cx="10972800" cy="250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3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BTP Dynamic Multi-Agent —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72706"/>
            <a:ext cx="12801600" cy="179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6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orchestrator agent routes each request to specialist agents that admins define at runtime. The agents work with business systems on the user's behalf, using LLMs from SAP AI Core.</a:t>
            </a:r>
            <a:endParaRPr lang="en-US" sz="860" dirty="0"/>
          </a:p>
        </p:txBody>
      </p:sp>
      <p:sp>
        <p:nvSpPr>
          <p:cNvPr id="4" name="Shape 2"/>
          <p:cNvSpPr/>
          <p:nvPr/>
        </p:nvSpPr>
        <p:spPr>
          <a:xfrm>
            <a:off x="777240" y="1511618"/>
            <a:ext cx="2377440" cy="3017520"/>
          </a:xfrm>
          <a:prstGeom prst="roundRect">
            <a:avLst>
              <a:gd name="adj" fmla="val 6154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657922"/>
            <a:ext cx="2011680" cy="20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101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010" dirty="0"/>
          </a:p>
        </p:txBody>
      </p:sp>
      <p:sp>
        <p:nvSpPr>
          <p:cNvPr id="6" name="Shape 4"/>
          <p:cNvSpPr/>
          <p:nvPr/>
        </p:nvSpPr>
        <p:spPr>
          <a:xfrm>
            <a:off x="960120" y="1968818"/>
            <a:ext cx="201168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475E7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078546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99032" y="2142554"/>
            <a:ext cx="148132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Users</a:t>
            </a:r>
            <a:endParaRPr lang="en-US" sz="940" dirty="0"/>
          </a:p>
        </p:txBody>
      </p:sp>
      <p:sp>
        <p:nvSpPr>
          <p:cNvPr id="9" name="Text 6"/>
          <p:cNvSpPr txBox="1"/>
          <p:nvPr/>
        </p:nvSpPr>
        <p:spPr>
          <a:xfrm>
            <a:off x="1069848" y="2389442"/>
            <a:ext cx="1792224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with the orchestrator</a:t>
            </a:r>
            <a:endParaRPr lang="en-US" sz="790" dirty="0"/>
          </a:p>
        </p:txBody>
      </p:sp>
      <p:sp>
        <p:nvSpPr>
          <p:cNvPr id="10" name="Shape 7"/>
          <p:cNvSpPr/>
          <p:nvPr/>
        </p:nvSpPr>
        <p:spPr>
          <a:xfrm>
            <a:off x="960120" y="3248978"/>
            <a:ext cx="201168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475E7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35870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99032" y="3422714"/>
            <a:ext cx="148132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Administrators</a:t>
            </a:r>
            <a:endParaRPr lang="en-US" sz="940" dirty="0"/>
          </a:p>
        </p:txBody>
      </p:sp>
      <p:sp>
        <p:nvSpPr>
          <p:cNvPr id="13" name="Text 9"/>
          <p:cNvSpPr txBox="1"/>
          <p:nvPr/>
        </p:nvSpPr>
        <p:spPr>
          <a:xfrm>
            <a:off x="1069848" y="3669602"/>
            <a:ext cx="1792224" cy="298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agents, skills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workflows</a:t>
            </a:r>
            <a:endParaRPr lang="en-US" sz="790" dirty="0"/>
          </a:p>
        </p:txBody>
      </p:sp>
      <p:sp>
        <p:nvSpPr>
          <p:cNvPr id="14" name="Shape 10"/>
          <p:cNvSpPr/>
          <p:nvPr/>
        </p:nvSpPr>
        <p:spPr>
          <a:xfrm>
            <a:off x="777240" y="4803458"/>
            <a:ext cx="2377440" cy="1371600"/>
          </a:xfrm>
          <a:prstGeom prst="roundRect">
            <a:avLst>
              <a:gd name="adj" fmla="val 10667"/>
            </a:avLst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23544" y="4949762"/>
            <a:ext cx="2011680" cy="20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101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Joule</a:t>
            </a:r>
            <a:endParaRPr lang="en-US" sz="1010" dirty="0"/>
          </a:p>
        </p:txBody>
      </p:sp>
      <p:sp>
        <p:nvSpPr>
          <p:cNvPr id="16" name="Shape 12"/>
          <p:cNvSpPr/>
          <p:nvPr/>
        </p:nvSpPr>
        <p:spPr>
          <a:xfrm>
            <a:off x="960120" y="5214938"/>
            <a:ext cx="201168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532466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99032" y="5388674"/>
            <a:ext cx="148132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Joule Agent Hub</a:t>
            </a:r>
            <a:endParaRPr lang="en-US" sz="940" dirty="0"/>
          </a:p>
        </p:txBody>
      </p:sp>
      <p:sp>
        <p:nvSpPr>
          <p:cNvPr id="19" name="Text 14"/>
          <p:cNvSpPr txBox="1"/>
          <p:nvPr/>
        </p:nvSpPr>
        <p:spPr>
          <a:xfrm>
            <a:off x="1069848" y="5635562"/>
            <a:ext cx="1792224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the agents over A2A</a:t>
            </a:r>
            <a:endParaRPr lang="en-US" sz="79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6632258"/>
            <a:ext cx="219456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940" dirty="0"/>
          </a:p>
        </p:txBody>
      </p:sp>
      <p:sp>
        <p:nvSpPr>
          <p:cNvPr id="21" name="Shape 16"/>
          <p:cNvSpPr/>
          <p:nvPr/>
        </p:nvSpPr>
        <p:spPr>
          <a:xfrm>
            <a:off x="777240" y="6924866"/>
            <a:ext cx="329184" cy="201168"/>
          </a:xfrm>
          <a:prstGeom prst="roundRect">
            <a:avLst>
              <a:gd name="adj" fmla="val 27273"/>
            </a:avLst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216152" y="6961442"/>
            <a:ext cx="182880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/ SAP BTP</a:t>
            </a:r>
            <a:endParaRPr lang="en-US" sz="790" dirty="0"/>
          </a:p>
        </p:txBody>
      </p:sp>
      <p:sp>
        <p:nvSpPr>
          <p:cNvPr id="23" name="Shape 18"/>
          <p:cNvSpPr/>
          <p:nvPr/>
        </p:nvSpPr>
        <p:spPr>
          <a:xfrm>
            <a:off x="777240" y="7235762"/>
            <a:ext cx="329184" cy="201168"/>
          </a:xfrm>
          <a:prstGeom prst="roundRect">
            <a:avLst>
              <a:gd name="adj" fmla="val 27273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216152" y="7272338"/>
            <a:ext cx="182880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Non-SAP</a:t>
            </a:r>
            <a:endParaRPr lang="en-US" sz="790" dirty="0"/>
          </a:p>
        </p:txBody>
      </p:sp>
      <p:sp>
        <p:nvSpPr>
          <p:cNvPr id="25" name="Shape 20"/>
          <p:cNvSpPr/>
          <p:nvPr/>
        </p:nvSpPr>
        <p:spPr>
          <a:xfrm>
            <a:off x="777240" y="7656386"/>
            <a:ext cx="329184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26" name="Text 21"/>
          <p:cNvSpPr txBox="1"/>
          <p:nvPr/>
        </p:nvSpPr>
        <p:spPr>
          <a:xfrm>
            <a:off x="1216152" y="7592378"/>
            <a:ext cx="182880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/ response</a:t>
            </a:r>
            <a:endParaRPr lang="en-US" sz="790" dirty="0"/>
          </a:p>
        </p:txBody>
      </p:sp>
      <p:sp>
        <p:nvSpPr>
          <p:cNvPr id="27" name="Shape 22"/>
          <p:cNvSpPr/>
          <p:nvPr/>
        </p:nvSpPr>
        <p:spPr>
          <a:xfrm>
            <a:off x="777240" y="7912417"/>
            <a:ext cx="329184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dash"/>
            <a:tailEnd type="triangle"/>
          </a:ln>
        </p:spPr>
      </p:sp>
      <p:sp>
        <p:nvSpPr>
          <p:cNvPr id="28" name="Text 23"/>
          <p:cNvSpPr txBox="1"/>
          <p:nvPr/>
        </p:nvSpPr>
        <p:spPr>
          <a:xfrm>
            <a:off x="1216152" y="7848410"/>
            <a:ext cx="182880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(asynchronous)</a:t>
            </a:r>
            <a:endParaRPr lang="en-US" sz="790" dirty="0"/>
          </a:p>
        </p:txBody>
      </p:sp>
      <p:sp>
        <p:nvSpPr>
          <p:cNvPr id="29" name="Shape 24"/>
          <p:cNvSpPr/>
          <p:nvPr/>
        </p:nvSpPr>
        <p:spPr>
          <a:xfrm>
            <a:off x="3520440" y="1511618"/>
            <a:ext cx="8138160" cy="6217920"/>
          </a:xfrm>
          <a:prstGeom prst="roundRect">
            <a:avLst>
              <a:gd name="adj" fmla="val 2353"/>
            </a:avLst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1621346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3941064" y="1657922"/>
            <a:ext cx="7772400" cy="20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101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BTP Subaccount</a:t>
            </a:r>
            <a:endParaRPr lang="en-US" sz="1010" dirty="0"/>
          </a:p>
        </p:txBody>
      </p:sp>
      <p:sp>
        <p:nvSpPr>
          <p:cNvPr id="32" name="Shape 26"/>
          <p:cNvSpPr/>
          <p:nvPr/>
        </p:nvSpPr>
        <p:spPr>
          <a:xfrm>
            <a:off x="3794760" y="2060258"/>
            <a:ext cx="182880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488" y="2169986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233672" y="2233994"/>
            <a:ext cx="129844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access</a:t>
            </a:r>
            <a:endParaRPr lang="en-US" sz="940" dirty="0"/>
          </a:p>
        </p:txBody>
      </p:sp>
      <p:sp>
        <p:nvSpPr>
          <p:cNvPr id="35" name="Text 28"/>
          <p:cNvSpPr txBox="1"/>
          <p:nvPr/>
        </p:nvSpPr>
        <p:spPr>
          <a:xfrm>
            <a:off x="3904488" y="2480882"/>
            <a:ext cx="1609344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Router + XSUAA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sign-on · roles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(user · admin · a2a)</a:t>
            </a:r>
            <a:endParaRPr lang="en-US" sz="790" dirty="0"/>
          </a:p>
        </p:txBody>
      </p:sp>
      <p:sp>
        <p:nvSpPr>
          <p:cNvPr id="36" name="Shape 29"/>
          <p:cNvSpPr/>
          <p:nvPr/>
        </p:nvSpPr>
        <p:spPr>
          <a:xfrm>
            <a:off x="3794760" y="4437698"/>
            <a:ext cx="182880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4488" y="4547426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4233672" y="4547426"/>
            <a:ext cx="1298448" cy="345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Scheduling</a:t>
            </a:r>
            <a:endParaRPr lang="en-US" sz="940" dirty="0"/>
          </a:p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40" dirty="0"/>
          </a:p>
        </p:txBody>
      </p:sp>
      <p:sp>
        <p:nvSpPr>
          <p:cNvPr id="39" name="Text 31"/>
          <p:cNvSpPr txBox="1"/>
          <p:nvPr/>
        </p:nvSpPr>
        <p:spPr>
          <a:xfrm>
            <a:off x="3904488" y="4913186"/>
            <a:ext cx="1609344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scheduled runs</a:t>
            </a:r>
            <a:endParaRPr lang="en-US" sz="790" dirty="0"/>
          </a:p>
        </p:txBody>
      </p:sp>
      <p:sp>
        <p:nvSpPr>
          <p:cNvPr id="40" name="Shape 32"/>
          <p:cNvSpPr/>
          <p:nvPr/>
        </p:nvSpPr>
        <p:spPr>
          <a:xfrm>
            <a:off x="6080760" y="1968818"/>
            <a:ext cx="5212080" cy="361188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064" y="2078546"/>
            <a:ext cx="256032" cy="256032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574536" y="2060258"/>
            <a:ext cx="438912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101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Multi-Agent App</a:t>
            </a:r>
            <a:endParaRPr lang="en-US" sz="101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UI · admin UI · A2A endpoint</a:t>
            </a:r>
            <a:endParaRPr lang="en-US" sz="1010" dirty="0"/>
          </a:p>
        </p:txBody>
      </p:sp>
      <p:sp>
        <p:nvSpPr>
          <p:cNvPr id="43" name="Shape 34"/>
          <p:cNvSpPr/>
          <p:nvPr/>
        </p:nvSpPr>
        <p:spPr>
          <a:xfrm>
            <a:off x="6355080" y="2563178"/>
            <a:ext cx="466344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4808" y="2672906"/>
            <a:ext cx="256032" cy="25603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793992" y="2736914"/>
            <a:ext cx="41330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agent</a:t>
            </a:r>
            <a:endParaRPr lang="en-US" sz="940" dirty="0"/>
          </a:p>
        </p:txBody>
      </p:sp>
      <p:sp>
        <p:nvSpPr>
          <p:cNvPr id="46" name="Text 36"/>
          <p:cNvSpPr txBox="1"/>
          <p:nvPr/>
        </p:nvSpPr>
        <p:spPr>
          <a:xfrm>
            <a:off x="8275320" y="2773490"/>
            <a:ext cx="274320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each request to the right specialist</a:t>
            </a:r>
            <a:endParaRPr lang="en-US" sz="790" dirty="0"/>
          </a:p>
        </p:txBody>
      </p:sp>
      <p:sp>
        <p:nvSpPr>
          <p:cNvPr id="47" name="Shape 37"/>
          <p:cNvSpPr/>
          <p:nvPr/>
        </p:nvSpPr>
        <p:spPr>
          <a:xfrm>
            <a:off x="6355080" y="3523298"/>
            <a:ext cx="146304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4808" y="3633026"/>
            <a:ext cx="256032" cy="256032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6793992" y="3697034"/>
            <a:ext cx="9326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</a:t>
            </a:r>
            <a:endParaRPr lang="en-US" sz="940" dirty="0"/>
          </a:p>
        </p:txBody>
      </p:sp>
      <p:sp>
        <p:nvSpPr>
          <p:cNvPr id="50" name="Text 39"/>
          <p:cNvSpPr txBox="1"/>
          <p:nvPr/>
        </p:nvSpPr>
        <p:spPr>
          <a:xfrm>
            <a:off x="6464808" y="3943922"/>
            <a:ext cx="1243584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mail &amp; Teams</a:t>
            </a:r>
            <a:endParaRPr lang="en-US" sz="790" dirty="0"/>
          </a:p>
        </p:txBody>
      </p:sp>
      <p:sp>
        <p:nvSpPr>
          <p:cNvPr id="51" name="Shape 40"/>
          <p:cNvSpPr/>
          <p:nvPr/>
        </p:nvSpPr>
        <p:spPr>
          <a:xfrm>
            <a:off x="7086600" y="3148394"/>
            <a:ext cx="0" cy="374904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52" name="Shape 41"/>
          <p:cNvSpPr/>
          <p:nvPr/>
        </p:nvSpPr>
        <p:spPr>
          <a:xfrm>
            <a:off x="7955280" y="3523298"/>
            <a:ext cx="146304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5008" y="3633026"/>
            <a:ext cx="256032" cy="256032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8394192" y="3697034"/>
            <a:ext cx="9326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</a:t>
            </a:r>
            <a:endParaRPr lang="en-US" sz="940" dirty="0"/>
          </a:p>
        </p:txBody>
      </p:sp>
      <p:sp>
        <p:nvSpPr>
          <p:cNvPr id="55" name="Text 43"/>
          <p:cNvSpPr txBox="1"/>
          <p:nvPr/>
        </p:nvSpPr>
        <p:spPr>
          <a:xfrm>
            <a:off x="8065008" y="3943922"/>
            <a:ext cx="1243584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Jira tickets</a:t>
            </a:r>
            <a:endParaRPr lang="en-US" sz="790" dirty="0"/>
          </a:p>
        </p:txBody>
      </p:sp>
      <p:sp>
        <p:nvSpPr>
          <p:cNvPr id="56" name="Shape 44"/>
          <p:cNvSpPr/>
          <p:nvPr/>
        </p:nvSpPr>
        <p:spPr>
          <a:xfrm>
            <a:off x="8686800" y="3148394"/>
            <a:ext cx="0" cy="374904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57" name="Shape 45"/>
          <p:cNvSpPr/>
          <p:nvPr/>
        </p:nvSpPr>
        <p:spPr>
          <a:xfrm>
            <a:off x="9555480" y="3523298"/>
            <a:ext cx="146304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65208" y="3633026"/>
            <a:ext cx="256032" cy="256032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9994392" y="3697034"/>
            <a:ext cx="9326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</a:t>
            </a:r>
            <a:endParaRPr lang="en-US" sz="940" dirty="0"/>
          </a:p>
        </p:txBody>
      </p:sp>
      <p:sp>
        <p:nvSpPr>
          <p:cNvPr id="60" name="Text 47"/>
          <p:cNvSpPr txBox="1"/>
          <p:nvPr/>
        </p:nvSpPr>
        <p:spPr>
          <a:xfrm>
            <a:off x="9665208" y="3943922"/>
            <a:ext cx="1243584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SAP security notes</a:t>
            </a:r>
            <a:endParaRPr lang="en-US" sz="790" dirty="0"/>
          </a:p>
        </p:txBody>
      </p:sp>
      <p:sp>
        <p:nvSpPr>
          <p:cNvPr id="61" name="Shape 48"/>
          <p:cNvSpPr/>
          <p:nvPr/>
        </p:nvSpPr>
        <p:spPr>
          <a:xfrm>
            <a:off x="10287000" y="3148394"/>
            <a:ext cx="0" cy="374904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62" name="Text 49"/>
          <p:cNvSpPr txBox="1"/>
          <p:nvPr/>
        </p:nvSpPr>
        <p:spPr>
          <a:xfrm>
            <a:off x="6355080" y="4483418"/>
            <a:ext cx="466344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007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Specialists are configured at runtime in the admin UI — no redeploy</a:t>
            </a:r>
            <a:endParaRPr lang="en-US" sz="790" dirty="0"/>
          </a:p>
        </p:txBody>
      </p:sp>
      <p:sp>
        <p:nvSpPr>
          <p:cNvPr id="63" name="Shape 50"/>
          <p:cNvSpPr/>
          <p:nvPr/>
        </p:nvSpPr>
        <p:spPr>
          <a:xfrm>
            <a:off x="6355080" y="4712018"/>
            <a:ext cx="46634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6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4808" y="4821746"/>
            <a:ext cx="256032" cy="256032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6793992" y="4885754"/>
            <a:ext cx="41330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&amp; scheduled runs</a:t>
            </a:r>
            <a:endParaRPr lang="en-US" sz="940" dirty="0"/>
          </a:p>
        </p:txBody>
      </p:sp>
      <p:sp>
        <p:nvSpPr>
          <p:cNvPr id="66" name="Text 52"/>
          <p:cNvSpPr txBox="1"/>
          <p:nvPr/>
        </p:nvSpPr>
        <p:spPr>
          <a:xfrm>
            <a:off x="8641080" y="4931474"/>
            <a:ext cx="237744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pipelines across agents</a:t>
            </a:r>
            <a:endParaRPr lang="en-US" sz="790" dirty="0"/>
          </a:p>
        </p:txBody>
      </p:sp>
      <p:sp>
        <p:nvSpPr>
          <p:cNvPr id="67" name="Shape 53"/>
          <p:cNvSpPr/>
          <p:nvPr/>
        </p:nvSpPr>
        <p:spPr>
          <a:xfrm>
            <a:off x="6080760" y="6266498"/>
            <a:ext cx="164592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6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0488" y="6376226"/>
            <a:ext cx="256032" cy="256032"/>
          </a:xfrm>
          <a:prstGeom prst="rect">
            <a:avLst/>
          </a:prstGeom>
        </p:spPr>
      </p:pic>
      <p:sp>
        <p:nvSpPr>
          <p:cNvPr id="69" name="Text 54"/>
          <p:cNvSpPr txBox="1"/>
          <p:nvPr/>
        </p:nvSpPr>
        <p:spPr>
          <a:xfrm>
            <a:off x="6519672" y="6440234"/>
            <a:ext cx="111556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AI Core</a:t>
            </a:r>
            <a:endParaRPr lang="en-US" sz="940" dirty="0"/>
          </a:p>
        </p:txBody>
      </p:sp>
      <p:sp>
        <p:nvSpPr>
          <p:cNvPr id="70" name="Text 55"/>
          <p:cNvSpPr txBox="1"/>
          <p:nvPr/>
        </p:nvSpPr>
        <p:spPr>
          <a:xfrm>
            <a:off x="6190488" y="6687122"/>
            <a:ext cx="1426464" cy="298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Hub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</a:t>
            </a:r>
            <a:endParaRPr lang="en-US" sz="790" dirty="0"/>
          </a:p>
        </p:txBody>
      </p:sp>
      <p:sp>
        <p:nvSpPr>
          <p:cNvPr id="71" name="Shape 56"/>
          <p:cNvSpPr/>
          <p:nvPr/>
        </p:nvSpPr>
        <p:spPr>
          <a:xfrm>
            <a:off x="6903720" y="5580698"/>
            <a:ext cx="0" cy="68580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72" name="Text 57"/>
          <p:cNvSpPr txBox="1"/>
          <p:nvPr/>
        </p:nvSpPr>
        <p:spPr>
          <a:xfrm>
            <a:off x="6976872" y="5946458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calls</a:t>
            </a:r>
            <a:endParaRPr lang="en-US" sz="720" dirty="0"/>
          </a:p>
        </p:txBody>
      </p:sp>
      <p:sp>
        <p:nvSpPr>
          <p:cNvPr id="73" name="Shape 58"/>
          <p:cNvSpPr/>
          <p:nvPr/>
        </p:nvSpPr>
        <p:spPr>
          <a:xfrm>
            <a:off x="7863840" y="6266498"/>
            <a:ext cx="164592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7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73568" y="6376226"/>
            <a:ext cx="256032" cy="256032"/>
          </a:xfrm>
          <a:prstGeom prst="rect">
            <a:avLst/>
          </a:prstGeom>
        </p:spPr>
      </p:pic>
      <p:sp>
        <p:nvSpPr>
          <p:cNvPr id="75" name="Text 59"/>
          <p:cNvSpPr txBox="1"/>
          <p:nvPr/>
        </p:nvSpPr>
        <p:spPr>
          <a:xfrm>
            <a:off x="8302752" y="6440234"/>
            <a:ext cx="111556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40" dirty="0"/>
          </a:p>
        </p:txBody>
      </p:sp>
      <p:sp>
        <p:nvSpPr>
          <p:cNvPr id="76" name="Text 60"/>
          <p:cNvSpPr txBox="1"/>
          <p:nvPr/>
        </p:nvSpPr>
        <p:spPr>
          <a:xfrm>
            <a:off x="7973568" y="6687122"/>
            <a:ext cx="1426464" cy="298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configuration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run history</a:t>
            </a:r>
            <a:endParaRPr lang="en-US" sz="790" dirty="0"/>
          </a:p>
        </p:txBody>
      </p:sp>
      <p:sp>
        <p:nvSpPr>
          <p:cNvPr id="77" name="Shape 61"/>
          <p:cNvSpPr/>
          <p:nvPr/>
        </p:nvSpPr>
        <p:spPr>
          <a:xfrm>
            <a:off x="8686800" y="5580698"/>
            <a:ext cx="0" cy="68580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78" name="Text 62"/>
          <p:cNvSpPr txBox="1"/>
          <p:nvPr/>
        </p:nvSpPr>
        <p:spPr>
          <a:xfrm>
            <a:off x="8759952" y="5946458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720" dirty="0"/>
          </a:p>
        </p:txBody>
      </p:sp>
      <p:sp>
        <p:nvSpPr>
          <p:cNvPr id="79" name="Shape 63"/>
          <p:cNvSpPr/>
          <p:nvPr/>
        </p:nvSpPr>
        <p:spPr>
          <a:xfrm>
            <a:off x="9646920" y="6266498"/>
            <a:ext cx="164592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8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56648" y="6376226"/>
            <a:ext cx="256032" cy="256032"/>
          </a:xfrm>
          <a:prstGeom prst="rect">
            <a:avLst/>
          </a:prstGeom>
        </p:spPr>
      </p:pic>
      <p:sp>
        <p:nvSpPr>
          <p:cNvPr id="81" name="Text 64"/>
          <p:cNvSpPr txBox="1"/>
          <p:nvPr/>
        </p:nvSpPr>
        <p:spPr>
          <a:xfrm>
            <a:off x="10085832" y="6376226"/>
            <a:ext cx="1115568" cy="345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</a:t>
            </a:r>
            <a:endParaRPr lang="en-US" sz="940" dirty="0"/>
          </a:p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40" dirty="0"/>
          </a:p>
        </p:txBody>
      </p:sp>
      <p:sp>
        <p:nvSpPr>
          <p:cNvPr id="82" name="Text 65"/>
          <p:cNvSpPr txBox="1"/>
          <p:nvPr/>
        </p:nvSpPr>
        <p:spPr>
          <a:xfrm>
            <a:off x="9756648" y="6741986"/>
            <a:ext cx="1426464" cy="298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 and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790" dirty="0"/>
          </a:p>
        </p:txBody>
      </p:sp>
      <p:sp>
        <p:nvSpPr>
          <p:cNvPr id="83" name="Shape 66"/>
          <p:cNvSpPr/>
          <p:nvPr/>
        </p:nvSpPr>
        <p:spPr>
          <a:xfrm>
            <a:off x="10469880" y="5580698"/>
            <a:ext cx="0" cy="68580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84" name="Text 67"/>
          <p:cNvSpPr txBox="1"/>
          <p:nvPr/>
        </p:nvSpPr>
        <p:spPr>
          <a:xfrm>
            <a:off x="10543032" y="5946458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720" dirty="0"/>
          </a:p>
        </p:txBody>
      </p:sp>
      <p:sp>
        <p:nvSpPr>
          <p:cNvPr id="85" name="Shape 68"/>
          <p:cNvSpPr/>
          <p:nvPr/>
        </p:nvSpPr>
        <p:spPr>
          <a:xfrm>
            <a:off x="12024360" y="1511618"/>
            <a:ext cx="2651760" cy="6217920"/>
          </a:xfrm>
          <a:prstGeom prst="roundRect">
            <a:avLst>
              <a:gd name="adj" fmla="val 5517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sp>
        <p:nvSpPr>
          <p:cNvPr id="86" name="Text 69"/>
          <p:cNvSpPr txBox="1"/>
          <p:nvPr/>
        </p:nvSpPr>
        <p:spPr>
          <a:xfrm>
            <a:off x="12170664" y="1657922"/>
            <a:ext cx="2286000" cy="20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101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Systems &amp; Tools</a:t>
            </a:r>
            <a:endParaRPr lang="en-US" sz="1010" dirty="0"/>
          </a:p>
        </p:txBody>
      </p:sp>
      <p:sp>
        <p:nvSpPr>
          <p:cNvPr id="87" name="Shape 70"/>
          <p:cNvSpPr/>
          <p:nvPr/>
        </p:nvSpPr>
        <p:spPr>
          <a:xfrm>
            <a:off x="12207240" y="2060258"/>
            <a:ext cx="228600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475E75"/>
            </a:solidFill>
            <a:prstDash val="solid"/>
          </a:ln>
        </p:spPr>
      </p:sp>
      <p:pic>
        <p:nvPicPr>
          <p:cNvPr id="8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316968" y="2169986"/>
            <a:ext cx="256032" cy="256032"/>
          </a:xfrm>
          <a:prstGeom prst="rect">
            <a:avLst/>
          </a:prstGeom>
        </p:spPr>
      </p:pic>
      <p:sp>
        <p:nvSpPr>
          <p:cNvPr id="89" name="Text 71"/>
          <p:cNvSpPr txBox="1"/>
          <p:nvPr/>
        </p:nvSpPr>
        <p:spPr>
          <a:xfrm>
            <a:off x="12646152" y="2233994"/>
            <a:ext cx="175564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940" dirty="0"/>
          </a:p>
        </p:txBody>
      </p:sp>
      <p:sp>
        <p:nvSpPr>
          <p:cNvPr id="90" name="Text 72"/>
          <p:cNvSpPr txBox="1"/>
          <p:nvPr/>
        </p:nvSpPr>
        <p:spPr>
          <a:xfrm>
            <a:off x="12316968" y="2480882"/>
            <a:ext cx="2066544" cy="298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BTP or any vendor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identity forwarded</a:t>
            </a:r>
            <a:endParaRPr lang="en-US" sz="790" dirty="0"/>
          </a:p>
        </p:txBody>
      </p:sp>
      <p:sp>
        <p:nvSpPr>
          <p:cNvPr id="91" name="Shape 73"/>
          <p:cNvSpPr/>
          <p:nvPr/>
        </p:nvSpPr>
        <p:spPr>
          <a:xfrm>
            <a:off x="12207240" y="3386138"/>
            <a:ext cx="228600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475E75"/>
            </a:solidFill>
            <a:prstDash val="solid"/>
          </a:ln>
        </p:spPr>
      </p:sp>
      <p:pic>
        <p:nvPicPr>
          <p:cNvPr id="9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316968" y="3495866"/>
            <a:ext cx="256032" cy="256032"/>
          </a:xfrm>
          <a:prstGeom prst="rect">
            <a:avLst/>
          </a:prstGeom>
        </p:spPr>
      </p:pic>
      <p:sp>
        <p:nvSpPr>
          <p:cNvPr id="93" name="Text 74"/>
          <p:cNvSpPr txBox="1"/>
          <p:nvPr/>
        </p:nvSpPr>
        <p:spPr>
          <a:xfrm>
            <a:off x="12646152" y="3559874"/>
            <a:ext cx="175564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&amp; ITSM</a:t>
            </a:r>
            <a:endParaRPr lang="en-US" sz="940" dirty="0"/>
          </a:p>
        </p:txBody>
      </p:sp>
      <p:sp>
        <p:nvSpPr>
          <p:cNvPr id="94" name="Text 75"/>
          <p:cNvSpPr txBox="1"/>
          <p:nvPr/>
        </p:nvSpPr>
        <p:spPr>
          <a:xfrm>
            <a:off x="12316968" y="3806762"/>
            <a:ext cx="2066544" cy="298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 · Gmail · Slack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· SMTP mail</a:t>
            </a:r>
            <a:endParaRPr lang="en-US" sz="790" dirty="0"/>
          </a:p>
        </p:txBody>
      </p:sp>
      <p:sp>
        <p:nvSpPr>
          <p:cNvPr id="95" name="Shape 76"/>
          <p:cNvSpPr/>
          <p:nvPr/>
        </p:nvSpPr>
        <p:spPr>
          <a:xfrm>
            <a:off x="12207240" y="4712018"/>
            <a:ext cx="2286000" cy="1005840"/>
          </a:xfrm>
          <a:prstGeom prst="roundRect">
            <a:avLst>
              <a:gd name="adj" fmla="val 14545"/>
            </a:avLst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pic>
        <p:nvPicPr>
          <p:cNvPr id="9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316968" y="4821746"/>
            <a:ext cx="256032" cy="256032"/>
          </a:xfrm>
          <a:prstGeom prst="rect">
            <a:avLst/>
          </a:prstGeom>
        </p:spPr>
      </p:pic>
      <p:sp>
        <p:nvSpPr>
          <p:cNvPr id="97" name="Text 77"/>
          <p:cNvSpPr txBox="1"/>
          <p:nvPr/>
        </p:nvSpPr>
        <p:spPr>
          <a:xfrm>
            <a:off x="12646152" y="4885754"/>
            <a:ext cx="175564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94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sources</a:t>
            </a:r>
            <a:endParaRPr lang="en-US" sz="940" dirty="0"/>
          </a:p>
        </p:txBody>
      </p:sp>
      <p:sp>
        <p:nvSpPr>
          <p:cNvPr id="98" name="Text 78"/>
          <p:cNvSpPr txBox="1"/>
          <p:nvPr/>
        </p:nvSpPr>
        <p:spPr>
          <a:xfrm>
            <a:off x="12316968" y="5132642"/>
            <a:ext cx="2066544" cy="298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for Me · SAP security</a:t>
            </a:r>
            <a:endParaRPr lang="en-US" sz="790" dirty="0"/>
          </a:p>
          <a:p>
            <a:pPr algn="l" indent="0" marL="0">
              <a:lnSpc>
                <a:spcPts val="1030"/>
              </a:lnSpc>
              <a:buNone/>
            </a:pPr>
            <a:r>
              <a:rPr lang="en-US" sz="79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(NVD CVE feed)</a:t>
            </a:r>
            <a:endParaRPr lang="en-US" sz="790" dirty="0"/>
          </a:p>
        </p:txBody>
      </p:sp>
      <p:sp>
        <p:nvSpPr>
          <p:cNvPr id="99" name="Shape 79"/>
          <p:cNvSpPr/>
          <p:nvPr/>
        </p:nvSpPr>
        <p:spPr>
          <a:xfrm>
            <a:off x="2971800" y="2471738"/>
            <a:ext cx="82296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100" name="Shape 80"/>
          <p:cNvSpPr/>
          <p:nvPr/>
        </p:nvSpPr>
        <p:spPr>
          <a:xfrm>
            <a:off x="2971800" y="3751898"/>
            <a:ext cx="36576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</a:ln>
        </p:spPr>
      </p:sp>
      <p:sp>
        <p:nvSpPr>
          <p:cNvPr id="101" name="Shape 81"/>
          <p:cNvSpPr/>
          <p:nvPr/>
        </p:nvSpPr>
        <p:spPr>
          <a:xfrm flipV="1">
            <a:off x="3337560" y="2791778"/>
            <a:ext cx="0" cy="96012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</a:ln>
        </p:spPr>
      </p:sp>
      <p:sp>
        <p:nvSpPr>
          <p:cNvPr id="102" name="Shape 82"/>
          <p:cNvSpPr/>
          <p:nvPr/>
        </p:nvSpPr>
        <p:spPr>
          <a:xfrm>
            <a:off x="3337560" y="2791778"/>
            <a:ext cx="45720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103" name="Shape 83"/>
          <p:cNvSpPr/>
          <p:nvPr/>
        </p:nvSpPr>
        <p:spPr>
          <a:xfrm>
            <a:off x="2971800" y="5626418"/>
            <a:ext cx="45720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</a:ln>
        </p:spPr>
      </p:sp>
      <p:sp>
        <p:nvSpPr>
          <p:cNvPr id="104" name="Shape 84"/>
          <p:cNvSpPr/>
          <p:nvPr/>
        </p:nvSpPr>
        <p:spPr>
          <a:xfrm flipV="1">
            <a:off x="3429000" y="3066098"/>
            <a:ext cx="0" cy="256032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</a:ln>
        </p:spPr>
      </p:sp>
      <p:sp>
        <p:nvSpPr>
          <p:cNvPr id="105" name="Shape 85"/>
          <p:cNvSpPr/>
          <p:nvPr/>
        </p:nvSpPr>
        <p:spPr>
          <a:xfrm>
            <a:off x="3429000" y="3066098"/>
            <a:ext cx="36576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106" name="Shape 86"/>
          <p:cNvSpPr/>
          <p:nvPr/>
        </p:nvSpPr>
        <p:spPr>
          <a:xfrm>
            <a:off x="5623560" y="2654618"/>
            <a:ext cx="45720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107" name="Shape 87"/>
          <p:cNvSpPr/>
          <p:nvPr/>
        </p:nvSpPr>
        <p:spPr>
          <a:xfrm>
            <a:off x="5623560" y="5041202"/>
            <a:ext cx="73152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dash"/>
            <a:tailEnd type="triangle"/>
          </a:ln>
        </p:spPr>
      </p:sp>
      <p:sp>
        <p:nvSpPr>
          <p:cNvPr id="108" name="Shape 88"/>
          <p:cNvSpPr/>
          <p:nvPr/>
        </p:nvSpPr>
        <p:spPr>
          <a:xfrm>
            <a:off x="11292840" y="2563178"/>
            <a:ext cx="91440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109" name="Shape 89"/>
          <p:cNvSpPr/>
          <p:nvPr/>
        </p:nvSpPr>
        <p:spPr>
          <a:xfrm>
            <a:off x="11292840" y="3889058"/>
            <a:ext cx="91440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110" name="Shape 90"/>
          <p:cNvSpPr/>
          <p:nvPr/>
        </p:nvSpPr>
        <p:spPr>
          <a:xfrm>
            <a:off x="11292840" y="5214938"/>
            <a:ext cx="91440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111" name="Text 91"/>
          <p:cNvSpPr txBox="1"/>
          <p:nvPr/>
        </p:nvSpPr>
        <p:spPr>
          <a:xfrm>
            <a:off x="11439144" y="2426018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720" dirty="0"/>
          </a:p>
        </p:txBody>
      </p:sp>
      <p:sp>
        <p:nvSpPr>
          <p:cNvPr id="112" name="Text 92"/>
          <p:cNvSpPr txBox="1"/>
          <p:nvPr/>
        </p:nvSpPr>
        <p:spPr>
          <a:xfrm>
            <a:off x="11439144" y="3751898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APIs</a:t>
            </a:r>
            <a:endParaRPr lang="en-US" sz="720" dirty="0"/>
          </a:p>
        </p:txBody>
      </p:sp>
      <p:sp>
        <p:nvSpPr>
          <p:cNvPr id="113" name="Text 93"/>
          <p:cNvSpPr txBox="1"/>
          <p:nvPr/>
        </p:nvSpPr>
        <p:spPr>
          <a:xfrm>
            <a:off x="11439144" y="5077778"/>
            <a:ext cx="18288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2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APIs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BTP Dynamic Multi-Agent — Overview</dc:title>
  <dc:subject>PptxGenJS Presentation</dc:subject>
  <dc:creator>PptxGenJS</dc:creator>
  <cp:lastModifiedBy>PptxGenJS</cp:lastModifiedBy>
  <cp:revision>1</cp:revision>
  <dcterms:created xsi:type="dcterms:W3CDTF">2026-10-01T06:20:21Z</dcterms:created>
  <dcterms:modified xsi:type="dcterms:W3CDTF">2026-10-01T06:20:21Z</dcterms:modified>
</cp:coreProperties>
</file>