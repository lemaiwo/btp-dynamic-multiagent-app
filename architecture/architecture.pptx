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916400" cy="9509760"/>
  <p:notesSz cx="9509760" cy="1691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237744"/>
            <a:ext cx="10972800" cy="25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3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Dynamic Multi-Agent — Solution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75488"/>
            <a:ext cx="12801600" cy="17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6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 are defined at runtime in an XSUAA-secured admin UI. An orchestrator delegates to them; the user's XSUAA JWT is forwarded to every MCP server. SAP AI Core's Generative AI Hub is the LLM provider.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777240" y="822960"/>
            <a:ext cx="2011680" cy="3108960"/>
          </a:xfrm>
          <a:prstGeom prst="roundRect">
            <a:avLst>
              <a:gd name="adj" fmla="val 727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969264"/>
            <a:ext cx="164592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Clients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960120" y="1280160"/>
            <a:ext cx="164592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3898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99032" y="1453896"/>
            <a:ext cx="11155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</a:t>
            </a:r>
            <a:endParaRPr lang="en-US" sz="94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1700784"/>
            <a:ext cx="142646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· chat UI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(/chat)</a:t>
            </a:r>
            <a:endParaRPr lang="en-US" sz="790" dirty="0"/>
          </a:p>
        </p:txBody>
      </p:sp>
      <p:sp>
        <p:nvSpPr>
          <p:cNvPr id="10" name="Shape 7"/>
          <p:cNvSpPr/>
          <p:nvPr/>
        </p:nvSpPr>
        <p:spPr>
          <a:xfrm>
            <a:off x="960120" y="2743200"/>
            <a:ext cx="164592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8529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99032" y="2916936"/>
            <a:ext cx="11155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940" dirty="0"/>
          </a:p>
        </p:txBody>
      </p:sp>
      <p:sp>
        <p:nvSpPr>
          <p:cNvPr id="13" name="Text 9"/>
          <p:cNvSpPr txBox="1"/>
          <p:nvPr/>
        </p:nvSpPr>
        <p:spPr>
          <a:xfrm>
            <a:off x="1069848" y="3163824"/>
            <a:ext cx="142646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UI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(/admin, /ui5admin)</a:t>
            </a:r>
            <a:endParaRPr lang="en-US" sz="790" dirty="0"/>
          </a:p>
        </p:txBody>
      </p:sp>
      <p:sp>
        <p:nvSpPr>
          <p:cNvPr id="14" name="Shape 10"/>
          <p:cNvSpPr/>
          <p:nvPr/>
        </p:nvSpPr>
        <p:spPr>
          <a:xfrm>
            <a:off x="777240" y="420624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23544" y="4352544"/>
            <a:ext cx="164592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Joule</a:t>
            </a:r>
            <a:endParaRPr lang="en-US" sz="1010" dirty="0"/>
          </a:p>
        </p:txBody>
      </p:sp>
      <p:sp>
        <p:nvSpPr>
          <p:cNvPr id="16" name="Shape 12"/>
          <p:cNvSpPr/>
          <p:nvPr/>
        </p:nvSpPr>
        <p:spPr>
          <a:xfrm>
            <a:off x="960120" y="4617720"/>
            <a:ext cx="164592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72744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99032" y="4791456"/>
            <a:ext cx="11155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Joule Agent Hub</a:t>
            </a:r>
            <a:endParaRPr lang="en-US" sz="940" dirty="0"/>
          </a:p>
        </p:txBody>
      </p:sp>
      <p:sp>
        <p:nvSpPr>
          <p:cNvPr id="19" name="Text 14"/>
          <p:cNvSpPr txBox="1"/>
          <p:nvPr/>
        </p:nvSpPr>
        <p:spPr>
          <a:xfrm>
            <a:off x="1069848" y="5038344"/>
            <a:ext cx="142646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client · a2a scope</a:t>
            </a:r>
            <a:endParaRPr lang="en-US" sz="79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6108192"/>
            <a:ext cx="201168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940" dirty="0"/>
          </a:p>
        </p:txBody>
      </p:sp>
      <p:sp>
        <p:nvSpPr>
          <p:cNvPr id="21" name="Shape 16"/>
          <p:cNvSpPr/>
          <p:nvPr/>
        </p:nvSpPr>
        <p:spPr>
          <a:xfrm>
            <a:off x="777240" y="640080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216152" y="6437376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/ SAP BTP</a:t>
            </a:r>
            <a:endParaRPr lang="en-US" sz="790" dirty="0"/>
          </a:p>
        </p:txBody>
      </p:sp>
      <p:sp>
        <p:nvSpPr>
          <p:cNvPr id="23" name="Shape 18"/>
          <p:cNvSpPr/>
          <p:nvPr/>
        </p:nvSpPr>
        <p:spPr>
          <a:xfrm>
            <a:off x="777240" y="6711696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216152" y="6748272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Non-SAP</a:t>
            </a:r>
            <a:endParaRPr lang="en-US" sz="790" dirty="0"/>
          </a:p>
        </p:txBody>
      </p:sp>
      <p:sp>
        <p:nvSpPr>
          <p:cNvPr id="25" name="Shape 20"/>
          <p:cNvSpPr/>
          <p:nvPr/>
        </p:nvSpPr>
        <p:spPr>
          <a:xfrm>
            <a:off x="777240" y="7022592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dash"/>
          </a:ln>
        </p:spPr>
      </p:sp>
      <p:sp>
        <p:nvSpPr>
          <p:cNvPr id="26" name="Text 21"/>
          <p:cNvSpPr txBox="1"/>
          <p:nvPr/>
        </p:nvSpPr>
        <p:spPr>
          <a:xfrm>
            <a:off x="1216152" y="7059168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separately</a:t>
            </a:r>
            <a:endParaRPr lang="en-US" sz="790" dirty="0"/>
          </a:p>
        </p:txBody>
      </p:sp>
      <p:sp>
        <p:nvSpPr>
          <p:cNvPr id="27" name="Shape 22"/>
          <p:cNvSpPr/>
          <p:nvPr/>
        </p:nvSpPr>
        <p:spPr>
          <a:xfrm>
            <a:off x="777240" y="7479792"/>
            <a:ext cx="32918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28" name="Text 23"/>
          <p:cNvSpPr txBox="1"/>
          <p:nvPr/>
        </p:nvSpPr>
        <p:spPr>
          <a:xfrm>
            <a:off x="1216152" y="7415784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request / response</a:t>
            </a:r>
            <a:endParaRPr lang="en-US" sz="790" dirty="0"/>
          </a:p>
        </p:txBody>
      </p:sp>
      <p:sp>
        <p:nvSpPr>
          <p:cNvPr id="29" name="Shape 24"/>
          <p:cNvSpPr/>
          <p:nvPr/>
        </p:nvSpPr>
        <p:spPr>
          <a:xfrm>
            <a:off x="777240" y="7735824"/>
            <a:ext cx="32918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dash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1216152" y="7671816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(scheduled)</a:t>
            </a:r>
            <a:endParaRPr lang="en-US" sz="790" dirty="0"/>
          </a:p>
        </p:txBody>
      </p:sp>
      <p:sp>
        <p:nvSpPr>
          <p:cNvPr id="31" name="Shape 26"/>
          <p:cNvSpPr/>
          <p:nvPr/>
        </p:nvSpPr>
        <p:spPr>
          <a:xfrm>
            <a:off x="777240" y="7991856"/>
            <a:ext cx="32918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ysDot"/>
            <a:tailEnd type="triangle"/>
          </a:ln>
        </p:spPr>
      </p:sp>
      <p:sp>
        <p:nvSpPr>
          <p:cNvPr id="32" name="Text 27"/>
          <p:cNvSpPr txBox="1"/>
          <p:nvPr/>
        </p:nvSpPr>
        <p:spPr>
          <a:xfrm>
            <a:off x="1216152" y="7927848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Optional, configured per agent</a:t>
            </a:r>
            <a:endParaRPr lang="en-US" sz="790" dirty="0"/>
          </a:p>
        </p:txBody>
      </p:sp>
      <p:sp>
        <p:nvSpPr>
          <p:cNvPr id="33" name="Shape 28"/>
          <p:cNvSpPr/>
          <p:nvPr/>
        </p:nvSpPr>
        <p:spPr>
          <a:xfrm>
            <a:off x="777240" y="8247888"/>
            <a:ext cx="329184" cy="0"/>
          </a:xfrm>
          <a:prstGeom prst="line">
            <a:avLst/>
          </a:prstGeom>
          <a:noFill/>
          <a:ln w="15875">
            <a:solidFill>
              <a:srgbClr val="188918"/>
            </a:solidFill>
            <a:prstDash val="solid"/>
            <a:headEnd type="triangle"/>
            <a:tailEnd type="triangle"/>
          </a:ln>
        </p:spPr>
      </p:sp>
      <p:sp>
        <p:nvSpPr>
          <p:cNvPr id="34" name="Text 29"/>
          <p:cNvSpPr txBox="1"/>
          <p:nvPr/>
        </p:nvSpPr>
        <p:spPr>
          <a:xfrm>
            <a:off x="1216152" y="8183880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790" dirty="0"/>
          </a:p>
        </p:txBody>
      </p:sp>
      <p:sp>
        <p:nvSpPr>
          <p:cNvPr id="35" name="Shape 30"/>
          <p:cNvSpPr/>
          <p:nvPr/>
        </p:nvSpPr>
        <p:spPr>
          <a:xfrm>
            <a:off x="3154680" y="822960"/>
            <a:ext cx="9144000" cy="8138160"/>
          </a:xfrm>
          <a:prstGeom prst="roundRect">
            <a:avLst>
              <a:gd name="adj" fmla="val 1798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932688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575304" y="969264"/>
            <a:ext cx="877824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Subaccount · Cloud Foundry runtime</a:t>
            </a:r>
            <a:endParaRPr lang="en-US" sz="1010" dirty="0"/>
          </a:p>
        </p:txBody>
      </p:sp>
      <p:sp>
        <p:nvSpPr>
          <p:cNvPr id="38" name="Shape 32"/>
          <p:cNvSpPr/>
          <p:nvPr/>
        </p:nvSpPr>
        <p:spPr>
          <a:xfrm>
            <a:off x="3429000" y="1371600"/>
            <a:ext cx="182880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1481328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3867912" y="1545336"/>
            <a:ext cx="129844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Router</a:t>
            </a:r>
            <a:endParaRPr lang="en-US" sz="940" dirty="0"/>
          </a:p>
        </p:txBody>
      </p:sp>
      <p:sp>
        <p:nvSpPr>
          <p:cNvPr id="41" name="Text 34"/>
          <p:cNvSpPr txBox="1"/>
          <p:nvPr/>
        </p:nvSpPr>
        <p:spPr>
          <a:xfrm>
            <a:off x="3538728" y="1792224"/>
            <a:ext cx="160934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xs-app.json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check per route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 · admin · a2a)</a:t>
            </a:r>
            <a:endParaRPr lang="en-US" sz="790" dirty="0"/>
          </a:p>
        </p:txBody>
      </p:sp>
      <p:sp>
        <p:nvSpPr>
          <p:cNvPr id="42" name="Shape 35"/>
          <p:cNvSpPr/>
          <p:nvPr/>
        </p:nvSpPr>
        <p:spPr>
          <a:xfrm>
            <a:off x="3429000" y="2834640"/>
            <a:ext cx="18288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728" y="2944368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3867912" y="2944368"/>
            <a:ext cx="129844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&amp;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Management</a:t>
            </a:r>
            <a:endParaRPr lang="en-US" sz="940" dirty="0"/>
          </a:p>
        </p:txBody>
      </p:sp>
      <p:sp>
        <p:nvSpPr>
          <p:cNvPr id="45" name="Text 37"/>
          <p:cNvSpPr txBox="1"/>
          <p:nvPr/>
        </p:nvSpPr>
        <p:spPr>
          <a:xfrm>
            <a:off x="3538728" y="3310128"/>
            <a:ext cx="160934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 · scopes: user, admin,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a2a, jobscheduler</a:t>
            </a:r>
            <a:endParaRPr lang="en-US" sz="790" dirty="0"/>
          </a:p>
        </p:txBody>
      </p:sp>
      <p:sp>
        <p:nvSpPr>
          <p:cNvPr id="46" name="Shape 38"/>
          <p:cNvSpPr/>
          <p:nvPr/>
        </p:nvSpPr>
        <p:spPr>
          <a:xfrm>
            <a:off x="3429000" y="4206240"/>
            <a:ext cx="1828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4315968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3867912" y="4315968"/>
            <a:ext cx="129844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Application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940" dirty="0"/>
          </a:p>
        </p:txBody>
      </p:sp>
      <p:sp>
        <p:nvSpPr>
          <p:cNvPr id="49" name="Text 40"/>
          <p:cNvSpPr txBox="1"/>
          <p:nvPr/>
        </p:nvSpPr>
        <p:spPr>
          <a:xfrm>
            <a:off x="3538728" y="4681728"/>
            <a:ext cx="160934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UI5 admin app (/ui5admin)</a:t>
            </a:r>
            <a:endParaRPr lang="en-US" sz="790" dirty="0"/>
          </a:p>
        </p:txBody>
      </p:sp>
      <p:sp>
        <p:nvSpPr>
          <p:cNvPr id="50" name="Shape 41"/>
          <p:cNvSpPr/>
          <p:nvPr/>
        </p:nvSpPr>
        <p:spPr>
          <a:xfrm>
            <a:off x="3429000" y="5486400"/>
            <a:ext cx="1828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8728" y="5596128"/>
            <a:ext cx="256032" cy="256032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3867912" y="5596128"/>
            <a:ext cx="129844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Scheduling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40" dirty="0"/>
          </a:p>
        </p:txBody>
      </p:sp>
      <p:sp>
        <p:nvSpPr>
          <p:cNvPr id="53" name="Text 43"/>
          <p:cNvSpPr txBox="1"/>
          <p:nvPr/>
        </p:nvSpPr>
        <p:spPr>
          <a:xfrm>
            <a:off x="3538728" y="5961888"/>
            <a:ext cx="160934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/api/{agents|workflows}/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{slug}/run → 202, direct,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bypasses the approuter</a:t>
            </a:r>
            <a:endParaRPr lang="en-US" sz="790" dirty="0"/>
          </a:p>
        </p:txBody>
      </p:sp>
      <p:sp>
        <p:nvSpPr>
          <p:cNvPr id="54" name="Shape 44"/>
          <p:cNvSpPr/>
          <p:nvPr/>
        </p:nvSpPr>
        <p:spPr>
          <a:xfrm>
            <a:off x="5715000" y="1280160"/>
            <a:ext cx="4114800" cy="7498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1304" y="1389888"/>
            <a:ext cx="256032" cy="256032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208776" y="1371600"/>
            <a:ext cx="347472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Backend</a:t>
            </a:r>
            <a:endParaRPr lang="en-US" sz="101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Pydantic AI · Cloud Foundry app</a:t>
            </a:r>
            <a:endParaRPr lang="en-US" sz="1010" dirty="0"/>
          </a:p>
        </p:txBody>
      </p:sp>
      <p:sp>
        <p:nvSpPr>
          <p:cNvPr id="57" name="Shape 46"/>
          <p:cNvSpPr/>
          <p:nvPr/>
        </p:nvSpPr>
        <p:spPr>
          <a:xfrm>
            <a:off x="5897880" y="17830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5897880" y="1856232"/>
            <a:ext cx="868680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</a:t>
            </a:r>
            <a:endParaRPr lang="en-US" sz="860" dirty="0"/>
          </a:p>
          <a:p>
            <a:pPr algn="ctr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/chat</a:t>
            </a:r>
            <a:endParaRPr lang="en-US" sz="860" dirty="0"/>
          </a:p>
        </p:txBody>
      </p:sp>
      <p:sp>
        <p:nvSpPr>
          <p:cNvPr id="59" name="Shape 48"/>
          <p:cNvSpPr/>
          <p:nvPr/>
        </p:nvSpPr>
        <p:spPr>
          <a:xfrm>
            <a:off x="6858000" y="17830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6858000" y="1856232"/>
            <a:ext cx="868680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API</a:t>
            </a:r>
            <a:endParaRPr lang="en-US" sz="860" dirty="0"/>
          </a:p>
          <a:p>
            <a:pPr algn="ctr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</a:t>
            </a:r>
            <a:endParaRPr lang="en-US" sz="860" dirty="0"/>
          </a:p>
        </p:txBody>
      </p:sp>
      <p:sp>
        <p:nvSpPr>
          <p:cNvPr id="61" name="Shape 50"/>
          <p:cNvSpPr/>
          <p:nvPr/>
        </p:nvSpPr>
        <p:spPr>
          <a:xfrm>
            <a:off x="7818120" y="17830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7818120" y="1856232"/>
            <a:ext cx="868680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server</a:t>
            </a:r>
            <a:endParaRPr lang="en-US" sz="860" dirty="0"/>
          </a:p>
          <a:p>
            <a:pPr algn="ctr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/a2a</a:t>
            </a:r>
            <a:endParaRPr lang="en-US" sz="860" dirty="0"/>
          </a:p>
        </p:txBody>
      </p:sp>
      <p:sp>
        <p:nvSpPr>
          <p:cNvPr id="63" name="Shape 52"/>
          <p:cNvSpPr/>
          <p:nvPr/>
        </p:nvSpPr>
        <p:spPr>
          <a:xfrm>
            <a:off x="8778240" y="17830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8778240" y="1856232"/>
            <a:ext cx="868680" cy="30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API</a:t>
            </a:r>
            <a:endParaRPr lang="en-US" sz="860" dirty="0"/>
          </a:p>
          <a:p>
            <a:pPr algn="ctr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/api/*/run</a:t>
            </a:r>
            <a:endParaRPr lang="en-US" sz="860" dirty="0"/>
          </a:p>
        </p:txBody>
      </p:sp>
      <p:sp>
        <p:nvSpPr>
          <p:cNvPr id="65" name="Shape 54"/>
          <p:cNvSpPr/>
          <p:nvPr/>
        </p:nvSpPr>
        <p:spPr>
          <a:xfrm>
            <a:off x="5897880" y="2350008"/>
            <a:ext cx="3749040" cy="310896"/>
          </a:xfrm>
          <a:prstGeom prst="roundRect">
            <a:avLst>
              <a:gd name="adj" fmla="val 23529"/>
            </a:avLst>
          </a:prstGeom>
          <a:solidFill>
            <a:srgbClr val="F5F6F7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5897880" y="2441448"/>
            <a:ext cx="374904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binding middleware · XSUAA JWKS validation · current_jwt</a:t>
            </a:r>
            <a:endParaRPr lang="en-US" sz="790" dirty="0"/>
          </a:p>
        </p:txBody>
      </p:sp>
      <p:sp>
        <p:nvSpPr>
          <p:cNvPr id="67" name="Shape 56"/>
          <p:cNvSpPr/>
          <p:nvPr/>
        </p:nvSpPr>
        <p:spPr>
          <a:xfrm>
            <a:off x="5897880" y="27889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6025896" y="2871216"/>
            <a:ext cx="34747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registry · built from the database, swapped on reload</a:t>
            </a:r>
            <a:endParaRPr lang="en-US" sz="790" dirty="0"/>
          </a:p>
        </p:txBody>
      </p:sp>
      <p:sp>
        <p:nvSpPr>
          <p:cNvPr id="69" name="Shape 58"/>
          <p:cNvSpPr/>
          <p:nvPr/>
        </p:nvSpPr>
        <p:spPr>
          <a:xfrm>
            <a:off x="6080760" y="3072384"/>
            <a:ext cx="3383280" cy="5120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0488" y="3182112"/>
            <a:ext cx="256032" cy="256032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6519672" y="3246120"/>
            <a:ext cx="285292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</a:t>
            </a:r>
            <a:endParaRPr lang="en-US" sz="940" dirty="0"/>
          </a:p>
        </p:txBody>
      </p:sp>
      <p:sp>
        <p:nvSpPr>
          <p:cNvPr id="72" name="Text 60"/>
          <p:cNvSpPr txBox="1"/>
          <p:nvPr/>
        </p:nvSpPr>
        <p:spPr>
          <a:xfrm>
            <a:off x="7772400" y="3273552"/>
            <a:ext cx="164592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tool per specialist</a:t>
            </a:r>
            <a:endParaRPr lang="en-US" sz="790" dirty="0"/>
          </a:p>
        </p:txBody>
      </p:sp>
      <p:sp>
        <p:nvSpPr>
          <p:cNvPr id="73" name="Shape 61"/>
          <p:cNvSpPr/>
          <p:nvPr/>
        </p:nvSpPr>
        <p:spPr>
          <a:xfrm>
            <a:off x="6190488" y="3904488"/>
            <a:ext cx="338328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74" name="Shape 62"/>
          <p:cNvSpPr/>
          <p:nvPr/>
        </p:nvSpPr>
        <p:spPr>
          <a:xfrm>
            <a:off x="6135624" y="3849624"/>
            <a:ext cx="338328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75" name="Shape 63"/>
          <p:cNvSpPr/>
          <p:nvPr/>
        </p:nvSpPr>
        <p:spPr>
          <a:xfrm>
            <a:off x="6080760" y="3794760"/>
            <a:ext cx="3383280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7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0488" y="3904488"/>
            <a:ext cx="256032" cy="256032"/>
          </a:xfrm>
          <a:prstGeom prst="rect">
            <a:avLst/>
          </a:prstGeom>
        </p:spPr>
      </p:pic>
      <p:sp>
        <p:nvSpPr>
          <p:cNvPr id="77" name="Text 64"/>
          <p:cNvSpPr txBox="1"/>
          <p:nvPr/>
        </p:nvSpPr>
        <p:spPr>
          <a:xfrm>
            <a:off x="6519672" y="3968496"/>
            <a:ext cx="285292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 (defined at runtime)</a:t>
            </a:r>
            <a:endParaRPr lang="en-US" sz="940" dirty="0"/>
          </a:p>
        </p:txBody>
      </p:sp>
      <p:sp>
        <p:nvSpPr>
          <p:cNvPr id="78" name="Text 65"/>
          <p:cNvSpPr txBox="1"/>
          <p:nvPr/>
        </p:nvSpPr>
        <p:spPr>
          <a:xfrm>
            <a:off x="6190488" y="4215384"/>
            <a:ext cx="316382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(load_skill) · peer delegation · deep-agent tools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(todos, scratchpad, sub-agents) · per-agent model</a:t>
            </a:r>
            <a:endParaRPr lang="en-US" sz="790" dirty="0"/>
          </a:p>
        </p:txBody>
      </p:sp>
      <p:sp>
        <p:nvSpPr>
          <p:cNvPr id="79" name="Shape 66"/>
          <p:cNvSpPr/>
          <p:nvPr/>
        </p:nvSpPr>
        <p:spPr>
          <a:xfrm>
            <a:off x="5897880" y="512064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8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7608" y="5230368"/>
            <a:ext cx="256032" cy="256032"/>
          </a:xfrm>
          <a:prstGeom prst="rect">
            <a:avLst/>
          </a:prstGeom>
        </p:spPr>
      </p:pic>
      <p:sp>
        <p:nvSpPr>
          <p:cNvPr id="81" name="Text 67"/>
          <p:cNvSpPr txBox="1"/>
          <p:nvPr/>
        </p:nvSpPr>
        <p:spPr>
          <a:xfrm>
            <a:off x="6336792" y="5294376"/>
            <a:ext cx="32186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940" dirty="0"/>
          </a:p>
        </p:txBody>
      </p:sp>
      <p:sp>
        <p:nvSpPr>
          <p:cNvPr id="82" name="Text 68"/>
          <p:cNvSpPr txBox="1"/>
          <p:nvPr/>
        </p:nvSpPr>
        <p:spPr>
          <a:xfrm>
            <a:off x="6007608" y="5541264"/>
            <a:ext cx="352958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line → fan-out → per-item branches → join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agent · condition · transform · http · python</a:t>
            </a:r>
            <a:endParaRPr lang="en-US" sz="790" dirty="0"/>
          </a:p>
        </p:txBody>
      </p:sp>
      <p:sp>
        <p:nvSpPr>
          <p:cNvPr id="83" name="Shape 69"/>
          <p:cNvSpPr/>
          <p:nvPr/>
        </p:nvSpPr>
        <p:spPr>
          <a:xfrm>
            <a:off x="5897880" y="6217920"/>
            <a:ext cx="3749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8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7608" y="6327648"/>
            <a:ext cx="256032" cy="256032"/>
          </a:xfrm>
          <a:prstGeom prst="rect">
            <a:avLst/>
          </a:prstGeom>
        </p:spPr>
      </p:pic>
      <p:sp>
        <p:nvSpPr>
          <p:cNvPr id="85" name="Text 70"/>
          <p:cNvSpPr txBox="1"/>
          <p:nvPr/>
        </p:nvSpPr>
        <p:spPr>
          <a:xfrm>
            <a:off x="6336792" y="6391656"/>
            <a:ext cx="32186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toolsets (builtin:*)</a:t>
            </a:r>
            <a:endParaRPr lang="en-US" sz="940" dirty="0"/>
          </a:p>
        </p:txBody>
      </p:sp>
      <p:sp>
        <p:nvSpPr>
          <p:cNvPr id="86" name="Text 71"/>
          <p:cNvSpPr txBox="1"/>
          <p:nvPr/>
        </p:nvSpPr>
        <p:spPr>
          <a:xfrm>
            <a:off x="6007608" y="6638544"/>
            <a:ext cx="352958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· outlook · teams · slack · smtp · jira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sapnotes · sapnotedetail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oauth2 · app_only · destination · session</a:t>
            </a:r>
            <a:endParaRPr lang="en-US" sz="790" dirty="0"/>
          </a:p>
        </p:txBody>
      </p:sp>
      <p:sp>
        <p:nvSpPr>
          <p:cNvPr id="87" name="Shape 72"/>
          <p:cNvSpPr/>
          <p:nvPr/>
        </p:nvSpPr>
        <p:spPr>
          <a:xfrm>
            <a:off x="5897880" y="7498080"/>
            <a:ext cx="3749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8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7608" y="7607808"/>
            <a:ext cx="256032" cy="256032"/>
          </a:xfrm>
          <a:prstGeom prst="rect">
            <a:avLst/>
          </a:prstGeom>
        </p:spPr>
      </p:pic>
      <p:sp>
        <p:nvSpPr>
          <p:cNvPr id="89" name="Text 73"/>
          <p:cNvSpPr txBox="1"/>
          <p:nvPr/>
        </p:nvSpPr>
        <p:spPr>
          <a:xfrm>
            <a:off x="6336792" y="7671816"/>
            <a:ext cx="32186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client</a:t>
            </a:r>
            <a:endParaRPr lang="en-US" sz="940" dirty="0"/>
          </a:p>
        </p:txBody>
      </p:sp>
      <p:sp>
        <p:nvSpPr>
          <p:cNvPr id="90" name="Text 74"/>
          <p:cNvSpPr txBox="1"/>
          <p:nvPr/>
        </p:nvSpPr>
        <p:spPr>
          <a:xfrm>
            <a:off x="6007608" y="7918704"/>
            <a:ext cx="352958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 · own MCP session per agent run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jwt (forward) · oauth2 (per user) · none</a:t>
            </a:r>
            <a:endParaRPr lang="en-US" sz="790" dirty="0"/>
          </a:p>
        </p:txBody>
      </p:sp>
      <p:sp>
        <p:nvSpPr>
          <p:cNvPr id="91" name="Shape 75"/>
          <p:cNvSpPr/>
          <p:nvPr/>
        </p:nvSpPr>
        <p:spPr>
          <a:xfrm>
            <a:off x="10287000" y="1371600"/>
            <a:ext cx="17373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9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96728" y="1481328"/>
            <a:ext cx="256032" cy="256032"/>
          </a:xfrm>
          <a:prstGeom prst="rect">
            <a:avLst/>
          </a:prstGeom>
        </p:spPr>
      </p:pic>
      <p:sp>
        <p:nvSpPr>
          <p:cNvPr id="93" name="Text 76"/>
          <p:cNvSpPr txBox="1"/>
          <p:nvPr/>
        </p:nvSpPr>
        <p:spPr>
          <a:xfrm>
            <a:off x="10725912" y="1481328"/>
            <a:ext cx="120700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option</a:t>
            </a:r>
            <a:endParaRPr lang="en-US" sz="940" dirty="0"/>
          </a:p>
        </p:txBody>
      </p:sp>
      <p:sp>
        <p:nvSpPr>
          <p:cNvPr id="94" name="Text 77"/>
          <p:cNvSpPr txBox="1"/>
          <p:nvPr/>
        </p:nvSpPr>
        <p:spPr>
          <a:xfrm>
            <a:off x="10396728" y="1847088"/>
            <a:ext cx="151790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· skills · workflows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· OAuth tokens</a:t>
            </a:r>
            <a:endParaRPr lang="en-US" sz="790" dirty="0"/>
          </a:p>
        </p:txBody>
      </p:sp>
      <p:sp>
        <p:nvSpPr>
          <p:cNvPr id="95" name="Shape 78"/>
          <p:cNvSpPr/>
          <p:nvPr/>
        </p:nvSpPr>
        <p:spPr>
          <a:xfrm>
            <a:off x="10287000" y="283464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9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96728" y="2944368"/>
            <a:ext cx="256032" cy="256032"/>
          </a:xfrm>
          <a:prstGeom prst="rect">
            <a:avLst/>
          </a:prstGeom>
        </p:spPr>
      </p:pic>
      <p:sp>
        <p:nvSpPr>
          <p:cNvPr id="97" name="Text 79"/>
          <p:cNvSpPr txBox="1"/>
          <p:nvPr/>
        </p:nvSpPr>
        <p:spPr>
          <a:xfrm>
            <a:off x="10725912" y="3008376"/>
            <a:ext cx="120700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AI Core</a:t>
            </a:r>
            <a:endParaRPr lang="en-US" sz="940" dirty="0"/>
          </a:p>
        </p:txBody>
      </p:sp>
      <p:sp>
        <p:nvSpPr>
          <p:cNvPr id="98" name="Text 80"/>
          <p:cNvSpPr txBox="1"/>
          <p:nvPr/>
        </p:nvSpPr>
        <p:spPr>
          <a:xfrm>
            <a:off x="10396728" y="3255264"/>
            <a:ext cx="151790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Hub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via OpenAI-compatible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per-agent model</a:t>
            </a:r>
            <a:endParaRPr lang="en-US" sz="790" dirty="0"/>
          </a:p>
        </p:txBody>
      </p:sp>
      <p:sp>
        <p:nvSpPr>
          <p:cNvPr id="99" name="Shape 81"/>
          <p:cNvSpPr/>
          <p:nvPr/>
        </p:nvSpPr>
        <p:spPr>
          <a:xfrm>
            <a:off x="10287000" y="4480560"/>
            <a:ext cx="17373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10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96728" y="4590288"/>
            <a:ext cx="256032" cy="256032"/>
          </a:xfrm>
          <a:prstGeom prst="rect">
            <a:avLst/>
          </a:prstGeom>
        </p:spPr>
      </p:pic>
      <p:sp>
        <p:nvSpPr>
          <p:cNvPr id="101" name="Text 82"/>
          <p:cNvSpPr txBox="1"/>
          <p:nvPr/>
        </p:nvSpPr>
        <p:spPr>
          <a:xfrm>
            <a:off x="10725912" y="4590288"/>
            <a:ext cx="120700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40" dirty="0"/>
          </a:p>
        </p:txBody>
      </p:sp>
      <p:sp>
        <p:nvSpPr>
          <p:cNvPr id="102" name="Text 83"/>
          <p:cNvSpPr txBox="1"/>
          <p:nvPr/>
        </p:nvSpPr>
        <p:spPr>
          <a:xfrm>
            <a:off x="10396728" y="4956048"/>
            <a:ext cx="151790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URLs + credentials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token exchange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(X-user-token)</a:t>
            </a:r>
            <a:endParaRPr lang="en-US" sz="790" dirty="0"/>
          </a:p>
        </p:txBody>
      </p:sp>
      <p:sp>
        <p:nvSpPr>
          <p:cNvPr id="103" name="Shape 84"/>
          <p:cNvSpPr/>
          <p:nvPr/>
        </p:nvSpPr>
        <p:spPr>
          <a:xfrm>
            <a:off x="10287000" y="7360920"/>
            <a:ext cx="173736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dash"/>
          </a:ln>
        </p:spPr>
      </p:sp>
      <p:pic>
        <p:nvPicPr>
          <p:cNvPr id="10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96728" y="7470648"/>
            <a:ext cx="256032" cy="256032"/>
          </a:xfrm>
          <a:prstGeom prst="rect">
            <a:avLst/>
          </a:prstGeom>
        </p:spPr>
      </p:pic>
      <p:sp>
        <p:nvSpPr>
          <p:cNvPr id="105" name="Text 85"/>
          <p:cNvSpPr txBox="1"/>
          <p:nvPr/>
        </p:nvSpPr>
        <p:spPr>
          <a:xfrm>
            <a:off x="10725912" y="7470648"/>
            <a:ext cx="120700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BTP-hosted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940" dirty="0"/>
          </a:p>
        </p:txBody>
      </p:sp>
      <p:sp>
        <p:nvSpPr>
          <p:cNvPr id="106" name="Text 86"/>
          <p:cNvSpPr txBox="1"/>
          <p:nvPr/>
        </p:nvSpPr>
        <p:spPr>
          <a:xfrm>
            <a:off x="10396728" y="7836408"/>
            <a:ext cx="151790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the user's JWT</a:t>
            </a:r>
            <a:endParaRPr lang="en-US" sz="790" dirty="0"/>
          </a:p>
        </p:txBody>
      </p:sp>
      <p:sp>
        <p:nvSpPr>
          <p:cNvPr id="107" name="Shape 87"/>
          <p:cNvSpPr/>
          <p:nvPr/>
        </p:nvSpPr>
        <p:spPr>
          <a:xfrm>
            <a:off x="12664440" y="822960"/>
            <a:ext cx="3474720" cy="8138160"/>
          </a:xfrm>
          <a:prstGeom prst="roundRect">
            <a:avLst>
              <a:gd name="adj" fmla="val 4211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108" name="Text 88"/>
          <p:cNvSpPr txBox="1"/>
          <p:nvPr/>
        </p:nvSpPr>
        <p:spPr>
          <a:xfrm>
            <a:off x="12810744" y="969264"/>
            <a:ext cx="310896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&amp; External Services</a:t>
            </a:r>
            <a:endParaRPr lang="en-US" sz="1010" dirty="0"/>
          </a:p>
        </p:txBody>
      </p:sp>
      <p:sp>
        <p:nvSpPr>
          <p:cNvPr id="109" name="Shape 89"/>
          <p:cNvSpPr/>
          <p:nvPr/>
        </p:nvSpPr>
        <p:spPr>
          <a:xfrm>
            <a:off x="12847320" y="1280160"/>
            <a:ext cx="3108960" cy="5815584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110" name="Text 90"/>
          <p:cNvSpPr txBox="1"/>
          <p:nvPr/>
        </p:nvSpPr>
        <p:spPr>
          <a:xfrm>
            <a:off x="12993624" y="1408176"/>
            <a:ext cx="2743200" cy="17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by built-in toolsets</a:t>
            </a:r>
            <a:endParaRPr lang="en-US" sz="860" dirty="0"/>
          </a:p>
        </p:txBody>
      </p:sp>
      <p:sp>
        <p:nvSpPr>
          <p:cNvPr id="111" name="Shape 91"/>
          <p:cNvSpPr/>
          <p:nvPr/>
        </p:nvSpPr>
        <p:spPr>
          <a:xfrm>
            <a:off x="12993624" y="1700784"/>
            <a:ext cx="2816352" cy="640080"/>
          </a:xfrm>
          <a:prstGeom prst="roundRect">
            <a:avLst>
              <a:gd name="adj" fmla="val 1714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1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103352" y="1892808"/>
            <a:ext cx="256032" cy="256032"/>
          </a:xfrm>
          <a:prstGeom prst="rect">
            <a:avLst/>
          </a:prstGeom>
        </p:spPr>
      </p:pic>
      <p:sp>
        <p:nvSpPr>
          <p:cNvPr id="113" name="Text 92"/>
          <p:cNvSpPr txBox="1"/>
          <p:nvPr/>
        </p:nvSpPr>
        <p:spPr>
          <a:xfrm>
            <a:off x="13469112" y="1856232"/>
            <a:ext cx="2286000" cy="32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· Graph API</a:t>
            </a:r>
            <a:endParaRPr lang="en-US" sz="94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mail · Teams channels</a:t>
            </a:r>
            <a:endParaRPr lang="en-US" sz="940" dirty="0"/>
          </a:p>
        </p:txBody>
      </p:sp>
      <p:sp>
        <p:nvSpPr>
          <p:cNvPr id="114" name="Shape 93"/>
          <p:cNvSpPr/>
          <p:nvPr/>
        </p:nvSpPr>
        <p:spPr>
          <a:xfrm>
            <a:off x="12993624" y="2450592"/>
            <a:ext cx="2816352" cy="640080"/>
          </a:xfrm>
          <a:prstGeom prst="roundRect">
            <a:avLst>
              <a:gd name="adj" fmla="val 1714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1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103352" y="2642616"/>
            <a:ext cx="256032" cy="256032"/>
          </a:xfrm>
          <a:prstGeom prst="rect">
            <a:avLst/>
          </a:prstGeom>
        </p:spPr>
      </p:pic>
      <p:sp>
        <p:nvSpPr>
          <p:cNvPr id="116" name="Text 94"/>
          <p:cNvSpPr txBox="1"/>
          <p:nvPr/>
        </p:nvSpPr>
        <p:spPr>
          <a:xfrm>
            <a:off x="13469112" y="2606040"/>
            <a:ext cx="2286000" cy="32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Gmail API</a:t>
            </a:r>
            <a:endParaRPr lang="en-US" sz="94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OAuth2 sign-in</a:t>
            </a:r>
            <a:endParaRPr lang="en-US" sz="940" dirty="0"/>
          </a:p>
        </p:txBody>
      </p:sp>
      <p:sp>
        <p:nvSpPr>
          <p:cNvPr id="117" name="Shape 95"/>
          <p:cNvSpPr/>
          <p:nvPr/>
        </p:nvSpPr>
        <p:spPr>
          <a:xfrm>
            <a:off x="12993624" y="3200400"/>
            <a:ext cx="2816352" cy="640080"/>
          </a:xfrm>
          <a:prstGeom prst="roundRect">
            <a:avLst>
              <a:gd name="adj" fmla="val 1714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1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103352" y="3392424"/>
            <a:ext cx="256032" cy="256032"/>
          </a:xfrm>
          <a:prstGeom prst="rect">
            <a:avLst/>
          </a:prstGeom>
        </p:spPr>
      </p:pic>
      <p:sp>
        <p:nvSpPr>
          <p:cNvPr id="119" name="Text 96"/>
          <p:cNvSpPr txBox="1"/>
          <p:nvPr/>
        </p:nvSpPr>
        <p:spPr>
          <a:xfrm>
            <a:off x="13469112" y="3355848"/>
            <a:ext cx="2286000" cy="32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Web API</a:t>
            </a:r>
            <a:endParaRPr lang="en-US" sz="94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token held in a destination</a:t>
            </a:r>
            <a:endParaRPr lang="en-US" sz="940" dirty="0"/>
          </a:p>
        </p:txBody>
      </p:sp>
      <p:sp>
        <p:nvSpPr>
          <p:cNvPr id="120" name="Shape 97"/>
          <p:cNvSpPr/>
          <p:nvPr/>
        </p:nvSpPr>
        <p:spPr>
          <a:xfrm>
            <a:off x="12993624" y="3950208"/>
            <a:ext cx="2816352" cy="640080"/>
          </a:xfrm>
          <a:prstGeom prst="roundRect">
            <a:avLst>
              <a:gd name="adj" fmla="val 1714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103352" y="4142232"/>
            <a:ext cx="256032" cy="256032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13469112" y="4105656"/>
            <a:ext cx="2286000" cy="32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 Jira</a:t>
            </a:r>
            <a:endParaRPr lang="en-US" sz="94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v2 through a destination</a:t>
            </a:r>
            <a:endParaRPr lang="en-US" sz="940" dirty="0"/>
          </a:p>
        </p:txBody>
      </p:sp>
      <p:sp>
        <p:nvSpPr>
          <p:cNvPr id="123" name="Shape 99"/>
          <p:cNvSpPr/>
          <p:nvPr/>
        </p:nvSpPr>
        <p:spPr>
          <a:xfrm>
            <a:off x="12993624" y="4700016"/>
            <a:ext cx="2816352" cy="640080"/>
          </a:xfrm>
          <a:prstGeom prst="roundRect">
            <a:avLst>
              <a:gd name="adj" fmla="val 1714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103352" y="4892040"/>
            <a:ext cx="256032" cy="256032"/>
          </a:xfrm>
          <a:prstGeom prst="rect">
            <a:avLst/>
          </a:prstGeom>
        </p:spPr>
      </p:pic>
      <p:sp>
        <p:nvSpPr>
          <p:cNvPr id="125" name="Text 100"/>
          <p:cNvSpPr txBox="1"/>
          <p:nvPr/>
        </p:nvSpPr>
        <p:spPr>
          <a:xfrm>
            <a:off x="13469112" y="4855464"/>
            <a:ext cx="2286000" cy="32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mail server</a:t>
            </a:r>
            <a:endParaRPr lang="en-US" sz="94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of type MAIL</a:t>
            </a:r>
            <a:endParaRPr lang="en-US" sz="940" dirty="0"/>
          </a:p>
        </p:txBody>
      </p:sp>
      <p:sp>
        <p:nvSpPr>
          <p:cNvPr id="126" name="Shape 101"/>
          <p:cNvSpPr/>
          <p:nvPr/>
        </p:nvSpPr>
        <p:spPr>
          <a:xfrm>
            <a:off x="12993624" y="5449824"/>
            <a:ext cx="2816352" cy="640080"/>
          </a:xfrm>
          <a:prstGeom prst="roundRect">
            <a:avLst>
              <a:gd name="adj" fmla="val 1714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2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103352" y="5641848"/>
            <a:ext cx="256032" cy="256032"/>
          </a:xfrm>
          <a:prstGeom prst="rect">
            <a:avLst/>
          </a:prstGeom>
        </p:spPr>
      </p:pic>
      <p:sp>
        <p:nvSpPr>
          <p:cNvPr id="128" name="Text 102"/>
          <p:cNvSpPr txBox="1"/>
          <p:nvPr/>
        </p:nvSpPr>
        <p:spPr>
          <a:xfrm>
            <a:off x="13469112" y="5605272"/>
            <a:ext cx="2286000" cy="32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NVD API</a:t>
            </a:r>
            <a:endParaRPr lang="en-US" sz="94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security notes (CVE feed)</a:t>
            </a:r>
            <a:endParaRPr lang="en-US" sz="940" dirty="0"/>
          </a:p>
        </p:txBody>
      </p:sp>
      <p:sp>
        <p:nvSpPr>
          <p:cNvPr id="129" name="Shape 103"/>
          <p:cNvSpPr/>
          <p:nvPr/>
        </p:nvSpPr>
        <p:spPr>
          <a:xfrm>
            <a:off x="12993624" y="6199632"/>
            <a:ext cx="2816352" cy="640080"/>
          </a:xfrm>
          <a:prstGeom prst="roundRect">
            <a:avLst>
              <a:gd name="adj" fmla="val 17143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13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103352" y="6391656"/>
            <a:ext cx="256032" cy="256032"/>
          </a:xfrm>
          <a:prstGeom prst="rect">
            <a:avLst/>
          </a:prstGeom>
        </p:spPr>
      </p:pic>
      <p:sp>
        <p:nvSpPr>
          <p:cNvPr id="131" name="Text 104"/>
          <p:cNvSpPr txBox="1"/>
          <p:nvPr/>
        </p:nvSpPr>
        <p:spPr>
          <a:xfrm>
            <a:off x="13469112" y="6355080"/>
            <a:ext cx="2286000" cy="32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for Me (me.sap.com)</a:t>
            </a:r>
            <a:endParaRPr lang="en-US" sz="94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detail · session cookie</a:t>
            </a:r>
            <a:endParaRPr lang="en-US" sz="940" dirty="0"/>
          </a:p>
        </p:txBody>
      </p:sp>
      <p:sp>
        <p:nvSpPr>
          <p:cNvPr id="132" name="Shape 105"/>
          <p:cNvSpPr/>
          <p:nvPr/>
        </p:nvSpPr>
        <p:spPr>
          <a:xfrm>
            <a:off x="12847320" y="7772400"/>
            <a:ext cx="310896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3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7048" y="7882128"/>
            <a:ext cx="256032" cy="256032"/>
          </a:xfrm>
          <a:prstGeom prst="rect">
            <a:avLst/>
          </a:prstGeom>
        </p:spPr>
      </p:pic>
      <p:sp>
        <p:nvSpPr>
          <p:cNvPr id="134" name="Text 106"/>
          <p:cNvSpPr txBox="1"/>
          <p:nvPr/>
        </p:nvSpPr>
        <p:spPr>
          <a:xfrm>
            <a:off x="13286232" y="7946136"/>
            <a:ext cx="257860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MCP servers</a:t>
            </a:r>
            <a:endParaRPr lang="en-US" sz="940" dirty="0"/>
          </a:p>
        </p:txBody>
      </p:sp>
      <p:sp>
        <p:nvSpPr>
          <p:cNvPr id="135" name="Text 107"/>
          <p:cNvSpPr txBox="1"/>
          <p:nvPr/>
        </p:nvSpPr>
        <p:spPr>
          <a:xfrm>
            <a:off x="12957048" y="8193024"/>
            <a:ext cx="288950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vendor · per-user OAuth 2.1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 · discovery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(RFC 8414/9728) · Dynamic Client Registration</a:t>
            </a:r>
            <a:endParaRPr lang="en-US" sz="790" dirty="0"/>
          </a:p>
        </p:txBody>
      </p:sp>
      <p:sp>
        <p:nvSpPr>
          <p:cNvPr id="136" name="Shape 108"/>
          <p:cNvSpPr/>
          <p:nvPr/>
        </p:nvSpPr>
        <p:spPr>
          <a:xfrm>
            <a:off x="2606040" y="1737360"/>
            <a:ext cx="8229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37" name="Text 109"/>
          <p:cNvSpPr txBox="1"/>
          <p:nvPr/>
        </p:nvSpPr>
        <p:spPr>
          <a:xfrm>
            <a:off x="2843784" y="1600200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20" dirty="0"/>
          </a:p>
        </p:txBody>
      </p:sp>
      <p:sp>
        <p:nvSpPr>
          <p:cNvPr id="138" name="Shape 110"/>
          <p:cNvSpPr/>
          <p:nvPr/>
        </p:nvSpPr>
        <p:spPr>
          <a:xfrm>
            <a:off x="2606040" y="3200400"/>
            <a:ext cx="3657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39" name="Shape 111"/>
          <p:cNvSpPr/>
          <p:nvPr/>
        </p:nvSpPr>
        <p:spPr>
          <a:xfrm flipV="1">
            <a:off x="2971800" y="2057400"/>
            <a:ext cx="0" cy="114300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40" name="Shape 112"/>
          <p:cNvSpPr/>
          <p:nvPr/>
        </p:nvSpPr>
        <p:spPr>
          <a:xfrm>
            <a:off x="2971800" y="2057400"/>
            <a:ext cx="4572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41" name="Shape 113"/>
          <p:cNvSpPr/>
          <p:nvPr/>
        </p:nvSpPr>
        <p:spPr>
          <a:xfrm>
            <a:off x="2606040" y="5074920"/>
            <a:ext cx="4572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42" name="Shape 114"/>
          <p:cNvSpPr/>
          <p:nvPr/>
        </p:nvSpPr>
        <p:spPr>
          <a:xfrm flipV="1">
            <a:off x="3063240" y="2331720"/>
            <a:ext cx="0" cy="274320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43" name="Shape 115"/>
          <p:cNvSpPr/>
          <p:nvPr/>
        </p:nvSpPr>
        <p:spPr>
          <a:xfrm>
            <a:off x="3063240" y="2331720"/>
            <a:ext cx="3657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44" name="Text 116"/>
          <p:cNvSpPr txBox="1"/>
          <p:nvPr/>
        </p:nvSpPr>
        <p:spPr>
          <a:xfrm rot="16200000">
            <a:off x="2203704" y="3671316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JSON-RPC</a:t>
            </a:r>
            <a:endParaRPr lang="en-US" sz="720" dirty="0"/>
          </a:p>
        </p:txBody>
      </p:sp>
      <p:sp>
        <p:nvSpPr>
          <p:cNvPr id="145" name="Shape 117"/>
          <p:cNvSpPr/>
          <p:nvPr/>
        </p:nvSpPr>
        <p:spPr>
          <a:xfrm>
            <a:off x="4343400" y="2468880"/>
            <a:ext cx="0" cy="365760"/>
          </a:xfrm>
          <a:prstGeom prst="line">
            <a:avLst/>
          </a:prstGeom>
          <a:noFill/>
          <a:ln w="15875">
            <a:solidFill>
              <a:srgbClr val="188918"/>
            </a:solidFill>
            <a:prstDash val="solid"/>
            <a:headEnd type="triangle"/>
            <a:tailEnd type="triangle"/>
          </a:ln>
        </p:spPr>
      </p:sp>
      <p:sp>
        <p:nvSpPr>
          <p:cNvPr id="146" name="Text 118"/>
          <p:cNvSpPr txBox="1"/>
          <p:nvPr/>
        </p:nvSpPr>
        <p:spPr>
          <a:xfrm>
            <a:off x="4416552" y="2642616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188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endParaRPr lang="en-US" sz="720" dirty="0"/>
          </a:p>
        </p:txBody>
      </p:sp>
      <p:sp>
        <p:nvSpPr>
          <p:cNvPr id="147" name="Shape 119"/>
          <p:cNvSpPr/>
          <p:nvPr/>
        </p:nvSpPr>
        <p:spPr>
          <a:xfrm>
            <a:off x="5257800" y="1965960"/>
            <a:ext cx="64008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48" name="Text 120"/>
          <p:cNvSpPr txBox="1"/>
          <p:nvPr/>
        </p:nvSpPr>
        <p:spPr>
          <a:xfrm>
            <a:off x="5294376" y="1828800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JWT</a:t>
            </a:r>
            <a:endParaRPr lang="en-US" sz="720" dirty="0"/>
          </a:p>
        </p:txBody>
      </p:sp>
      <p:sp>
        <p:nvSpPr>
          <p:cNvPr id="149" name="Shape 121"/>
          <p:cNvSpPr/>
          <p:nvPr/>
        </p:nvSpPr>
        <p:spPr>
          <a:xfrm>
            <a:off x="5257800" y="2286000"/>
            <a:ext cx="23774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50" name="Shape 122"/>
          <p:cNvSpPr/>
          <p:nvPr/>
        </p:nvSpPr>
        <p:spPr>
          <a:xfrm>
            <a:off x="5495544" y="2286000"/>
            <a:ext cx="0" cy="237744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51" name="Shape 123"/>
          <p:cNvSpPr/>
          <p:nvPr/>
        </p:nvSpPr>
        <p:spPr>
          <a:xfrm flipH="1">
            <a:off x="5257800" y="4663440"/>
            <a:ext cx="23774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52" name="Text 124"/>
          <p:cNvSpPr txBox="1"/>
          <p:nvPr/>
        </p:nvSpPr>
        <p:spPr>
          <a:xfrm rot="16200000">
            <a:off x="4700016" y="3396996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UI5 app</a:t>
            </a:r>
            <a:endParaRPr lang="en-US" sz="720" dirty="0"/>
          </a:p>
        </p:txBody>
      </p:sp>
      <p:sp>
        <p:nvSpPr>
          <p:cNvPr id="153" name="Shape 125"/>
          <p:cNvSpPr/>
          <p:nvPr/>
        </p:nvSpPr>
        <p:spPr>
          <a:xfrm>
            <a:off x="5257800" y="5852160"/>
            <a:ext cx="64008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dash"/>
            <a:tailEnd type="triangle"/>
          </a:ln>
        </p:spPr>
      </p:sp>
      <p:sp>
        <p:nvSpPr>
          <p:cNvPr id="154" name="Text 126"/>
          <p:cNvSpPr txBox="1"/>
          <p:nvPr/>
        </p:nvSpPr>
        <p:spPr>
          <a:xfrm>
            <a:off x="5312664" y="5715000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endParaRPr lang="en-US" sz="720" dirty="0"/>
          </a:p>
        </p:txBody>
      </p:sp>
      <p:sp>
        <p:nvSpPr>
          <p:cNvPr id="155" name="Shape 127"/>
          <p:cNvSpPr/>
          <p:nvPr/>
        </p:nvSpPr>
        <p:spPr>
          <a:xfrm>
            <a:off x="9464040" y="3328416"/>
            <a:ext cx="8229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56" name="Text 128"/>
          <p:cNvSpPr txBox="1"/>
          <p:nvPr/>
        </p:nvSpPr>
        <p:spPr>
          <a:xfrm>
            <a:off x="9592056" y="3191256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</a:t>
            </a:r>
            <a:endParaRPr lang="en-US" sz="720" dirty="0"/>
          </a:p>
        </p:txBody>
      </p:sp>
      <p:sp>
        <p:nvSpPr>
          <p:cNvPr id="157" name="Shape 129"/>
          <p:cNvSpPr/>
          <p:nvPr/>
        </p:nvSpPr>
        <p:spPr>
          <a:xfrm>
            <a:off x="9646920" y="1965960"/>
            <a:ext cx="64008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58" name="Text 130"/>
          <p:cNvSpPr txBox="1"/>
          <p:nvPr/>
        </p:nvSpPr>
        <p:spPr>
          <a:xfrm>
            <a:off x="9738360" y="1828800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720" dirty="0"/>
          </a:p>
        </p:txBody>
      </p:sp>
      <p:sp>
        <p:nvSpPr>
          <p:cNvPr id="159" name="Shape 131"/>
          <p:cNvSpPr/>
          <p:nvPr/>
        </p:nvSpPr>
        <p:spPr>
          <a:xfrm>
            <a:off x="9829800" y="5120640"/>
            <a:ext cx="4572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60" name="Text 132"/>
          <p:cNvSpPr txBox="1"/>
          <p:nvPr/>
        </p:nvSpPr>
        <p:spPr>
          <a:xfrm>
            <a:off x="9866376" y="4983480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720" dirty="0"/>
          </a:p>
        </p:txBody>
      </p:sp>
      <p:sp>
        <p:nvSpPr>
          <p:cNvPr id="161" name="Shape 133"/>
          <p:cNvSpPr/>
          <p:nvPr/>
        </p:nvSpPr>
        <p:spPr>
          <a:xfrm>
            <a:off x="7772400" y="3584448"/>
            <a:ext cx="0" cy="210312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62" name="Shape 134"/>
          <p:cNvSpPr/>
          <p:nvPr/>
        </p:nvSpPr>
        <p:spPr>
          <a:xfrm>
            <a:off x="9646920" y="6766560"/>
            <a:ext cx="334670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ysDot"/>
            <a:tailEnd type="triangle"/>
          </a:ln>
        </p:spPr>
      </p:sp>
      <p:sp>
        <p:nvSpPr>
          <p:cNvPr id="163" name="Text 135"/>
          <p:cNvSpPr txBox="1"/>
          <p:nvPr/>
        </p:nvSpPr>
        <p:spPr>
          <a:xfrm>
            <a:off x="10469880" y="6629400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</a:t>
            </a:r>
            <a:endParaRPr lang="en-US" sz="720" dirty="0"/>
          </a:p>
        </p:txBody>
      </p:sp>
      <p:sp>
        <p:nvSpPr>
          <p:cNvPr id="164" name="Shape 136"/>
          <p:cNvSpPr/>
          <p:nvPr/>
        </p:nvSpPr>
        <p:spPr>
          <a:xfrm>
            <a:off x="9646920" y="7772400"/>
            <a:ext cx="64008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65" name="Text 137"/>
          <p:cNvSpPr txBox="1"/>
          <p:nvPr/>
        </p:nvSpPr>
        <p:spPr>
          <a:xfrm>
            <a:off x="9738360" y="7635240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720" dirty="0"/>
          </a:p>
        </p:txBody>
      </p:sp>
      <p:sp>
        <p:nvSpPr>
          <p:cNvPr id="166" name="Shape 138"/>
          <p:cNvSpPr/>
          <p:nvPr/>
        </p:nvSpPr>
        <p:spPr>
          <a:xfrm>
            <a:off x="9646920" y="8430768"/>
            <a:ext cx="32004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ysDot"/>
            <a:tailEnd type="triangle"/>
          </a:ln>
        </p:spPr>
      </p:sp>
      <p:sp>
        <p:nvSpPr>
          <p:cNvPr id="167" name="Text 139"/>
          <p:cNvSpPr txBox="1"/>
          <p:nvPr/>
        </p:nvSpPr>
        <p:spPr>
          <a:xfrm>
            <a:off x="10469880" y="8293608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OAuth 2.1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BTP Dynamic Multi-Agent — Solution Architecture</dc:title>
  <dc:subject>PptxGenJS Presentation</dc:subject>
  <dc:creator>PptxGenJS</dc:creator>
  <cp:lastModifiedBy>PptxGenJS</cp:lastModifiedBy>
  <cp:revision>1</cp:revision>
  <dcterms:created xsi:type="dcterms:W3CDTF">2026-09-30T20:42:39Z</dcterms:created>
  <dcterms:modified xsi:type="dcterms:W3CDTF">2026-09-30T20:42:39Z</dcterms:modified>
</cp:coreProperties>
</file>